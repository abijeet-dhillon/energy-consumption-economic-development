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embeddedFontLst>
    <p:embeddedFont>
      <p:font typeface="Play" pitchFamily="2" charset="0"/>
      <p:regular r:id="rId16"/>
      <p:bold r:id="rId1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1" roundtripDataSignature="AMtx7migHW1IVSdSmFmrp6XiwbhrJoZZF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84"/>
  </p:normalViewPr>
  <p:slideViewPr>
    <p:cSldViewPr snapToGrid="0">
      <p:cViewPr varScale="1">
        <p:scale>
          <a:sx n="106" d="100"/>
          <a:sy n="106" d="100"/>
        </p:scale>
        <p:origin x="816" y="17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21"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h2994f3393d0b2db_0_5:notes"/>
          <p:cNvSpPr>
            <a:spLocks noGrp="1" noRot="1" noChangeAspect="1"/>
          </p:cNvSpPr>
          <p:nvPr>
            <p:ph type="sldImg" idx="2"/>
          </p:nvPr>
        </p:nvSpPr>
        <p:spPr>
          <a:xfrm>
            <a:off x="381381" y="685800"/>
            <a:ext cx="60957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h2994f3393d0b2db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h2994f3393d0b2db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h2994f3393d0b2d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Energy is the backbone of an economy. It powers daily activity, production and transport, and when supply is unreliable or costs rise, productivity falls and the effects spread into inflation and financial markets. Energy use also isn't constant: countries at different stages of development may follow different energy paths. That motivates a closer statistical look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h2994f3393d0b2db_0_10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h2994f3393d0b2db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We ask two questions. First, did the change in energy use per capita from 2010 to 2021 differ between countries with lower and higher initial development? We tested that with a Welch t-test and a permutation test. Second, what is the relationship between energy use and GDP per capita in 2021, and how much of the variation does energy explain? For that we used simple linear regression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h2994f3393d0b2db_0_10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h2994f3393d0b2db_0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Our data come from the World Bank's World Development Indicators, with 142 countries that have sufficient data. The key variables are energy use per capita and GDP per capita, in PPP (purchasing power parity) </a:t>
            </a:r>
            <a:r>
              <a:rPr lang="en-US">
                <a:solidFill>
                  <a:schemeClr val="dk1"/>
                </a:solidFill>
              </a:rPr>
              <a:t>constant </a:t>
            </a:r>
            <a:r>
              <a:rPr lang="en-US"/>
              <a:t>2021 dollars. For the first question we calculate each country's 2010 to 2021 change and split countries at the median 2010 GDP. For the second we use 2021 only. We used complete cases and did no imputation.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h2994f3393d0b2db_0_12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h2994f3393d0b2db_0_1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1150">
                <a:solidFill>
                  <a:schemeClr val="dk1"/>
                </a:solidFill>
              </a:rPr>
              <a:t>Our first research question asks if energy use changes differently between the two development groups?</a:t>
            </a:r>
            <a:endParaRPr sz="115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150">
              <a:solidFill>
                <a:schemeClr val="dk1"/>
              </a:solidFill>
            </a:endParaRPr>
          </a:p>
          <a:p>
            <a:pPr marL="0" lvl="0" indent="0" algn="l" rtl="0">
              <a:lnSpc>
                <a:spcPct val="115000"/>
              </a:lnSpc>
              <a:spcBef>
                <a:spcPts val="0"/>
              </a:spcBef>
              <a:spcAft>
                <a:spcPts val="0"/>
              </a:spcAft>
              <a:buNone/>
            </a:pPr>
            <a:r>
              <a:rPr lang="en-US" sz="1150">
                <a:solidFill>
                  <a:schemeClr val="dk1"/>
                </a:solidFill>
              </a:rPr>
              <a:t>Between 2010 and 2021, energy use in the higher development group fell by about 440 kilograms, on average. In the lower development group, it rose by about 120 kilograms.</a:t>
            </a:r>
            <a:endParaRPr sz="115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150">
              <a:solidFill>
                <a:schemeClr val="dk1"/>
              </a:solidFill>
            </a:endParaRPr>
          </a:p>
          <a:p>
            <a:pPr marL="0" lvl="0" indent="0" algn="l" rtl="0">
              <a:lnSpc>
                <a:spcPct val="115000"/>
              </a:lnSpc>
              <a:spcBef>
                <a:spcPts val="0"/>
              </a:spcBef>
              <a:spcAft>
                <a:spcPts val="0"/>
              </a:spcAft>
              <a:buNone/>
            </a:pPr>
            <a:r>
              <a:rPr lang="en-US" sz="1150">
                <a:solidFill>
                  <a:schemeClr val="dk1"/>
                </a:solidFill>
              </a:rPr>
              <a:t>Higher development countries tended to use less energy per person, while lower development countries tended to use more.</a:t>
            </a:r>
            <a:endParaRPr sz="115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15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US" sz="1150">
                <a:solidFill>
                  <a:schemeClr val="dk1"/>
                </a:solidFill>
              </a:rPr>
              <a:t>Energy use changes also varied much more in the higher development group, with a standard deviation of around 1,100, compared with around 230 in the lower group.</a:t>
            </a:r>
            <a:endParaRPr sz="1150">
              <a:solidFill>
                <a:schemeClr val="dk1"/>
              </a:solidFill>
            </a:endParaRPr>
          </a:p>
          <a:p>
            <a:pPr marL="0" lvl="0" indent="0" algn="l" rtl="0">
              <a:spcBef>
                <a:spcPts val="0"/>
              </a:spcBef>
              <a:spcAft>
                <a:spcPts val="0"/>
              </a:spcAft>
              <a:buNone/>
            </a:pPr>
            <a:endParaRPr sz="1000">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h2994f3393d0b2db_0_11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h2994f3393d0b2db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1150">
                <a:solidFill>
                  <a:schemeClr val="dk1"/>
                </a:solidFill>
              </a:rPr>
              <a:t>To test whether this difference likely extends beyond the countries in our sample.</a:t>
            </a:r>
            <a:endParaRPr sz="115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150">
              <a:solidFill>
                <a:schemeClr val="dk1"/>
              </a:solidFill>
            </a:endParaRPr>
          </a:p>
          <a:p>
            <a:pPr marL="0" lvl="0" indent="0" algn="l" rtl="0">
              <a:lnSpc>
                <a:spcPct val="115000"/>
              </a:lnSpc>
              <a:spcBef>
                <a:spcPts val="0"/>
              </a:spcBef>
              <a:spcAft>
                <a:spcPts val="0"/>
              </a:spcAft>
              <a:buNone/>
            </a:pPr>
            <a:r>
              <a:rPr lang="en-US" sz="1150">
                <a:solidFill>
                  <a:schemeClr val="dk1"/>
                </a:solidFill>
              </a:rPr>
              <a:t>Our null hypothesis was that both groups had the same average change in energy use. The alternative hypothesis was that their average changes are different.</a:t>
            </a:r>
            <a:endParaRPr sz="115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150">
              <a:solidFill>
                <a:schemeClr val="dk1"/>
              </a:solidFill>
            </a:endParaRPr>
          </a:p>
          <a:p>
            <a:pPr marL="0" lvl="0" indent="0" algn="l" rtl="0">
              <a:lnSpc>
                <a:spcPct val="115000"/>
              </a:lnSpc>
              <a:spcBef>
                <a:spcPts val="0"/>
              </a:spcBef>
              <a:spcAft>
                <a:spcPts val="0"/>
              </a:spcAft>
              <a:buNone/>
            </a:pPr>
            <a:r>
              <a:rPr lang="en-US" sz="1150">
                <a:solidFill>
                  <a:schemeClr val="dk1"/>
                </a:solidFill>
              </a:rPr>
              <a:t>We used a Welch t-test, which gave a t-statistic of about minus 4.2 and a p-value close to zero. A permutation test gave a p-value close to zero as well.</a:t>
            </a:r>
            <a:endParaRPr sz="115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150">
              <a:solidFill>
                <a:schemeClr val="dk1"/>
              </a:solidFill>
            </a:endParaRPr>
          </a:p>
          <a:p>
            <a:pPr marL="0" lvl="0" indent="0" algn="l" rtl="0">
              <a:lnSpc>
                <a:spcPct val="115000"/>
              </a:lnSpc>
              <a:spcBef>
                <a:spcPts val="0"/>
              </a:spcBef>
              <a:spcAft>
                <a:spcPts val="0"/>
              </a:spcAft>
              <a:buNone/>
            </a:pPr>
            <a:r>
              <a:rPr lang="en-US" sz="1150">
                <a:solidFill>
                  <a:schemeClr val="dk1"/>
                </a:solidFill>
              </a:rPr>
              <a:t>The 95% confidence interval for the difference between the higher and lower groups was also entirely negative.</a:t>
            </a:r>
            <a:endParaRPr sz="115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150">
              <a:solidFill>
                <a:schemeClr val="dk1"/>
              </a:solidFill>
            </a:endParaRPr>
          </a:p>
          <a:p>
            <a:pPr marL="0" lvl="0" indent="0" algn="l" rtl="0">
              <a:lnSpc>
                <a:spcPct val="115000"/>
              </a:lnSpc>
              <a:spcBef>
                <a:spcPts val="0"/>
              </a:spcBef>
              <a:spcAft>
                <a:spcPts val="0"/>
              </a:spcAft>
              <a:buNone/>
            </a:pPr>
            <a:r>
              <a:rPr lang="en-US" sz="1150">
                <a:solidFill>
                  <a:schemeClr val="dk1"/>
                </a:solidFill>
              </a:rPr>
              <a:t>Since both p-values were well below our significance level of 0.05, we rejected the null hypothesis.</a:t>
            </a:r>
            <a:endParaRPr sz="115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150">
              <a:solidFill>
                <a:schemeClr val="dk1"/>
              </a:solidFill>
            </a:endParaRPr>
          </a:p>
          <a:p>
            <a:pPr marL="0" lvl="0" indent="0" algn="l" rtl="0">
              <a:lnSpc>
                <a:spcPct val="115000"/>
              </a:lnSpc>
              <a:spcBef>
                <a:spcPts val="0"/>
              </a:spcBef>
              <a:spcAft>
                <a:spcPts val="0"/>
              </a:spcAft>
              <a:buNone/>
            </a:pPr>
            <a:r>
              <a:rPr lang="en-US" sz="1150">
                <a:solidFill>
                  <a:schemeClr val="dk1"/>
                </a:solidFill>
              </a:rPr>
              <a:t>This all supports the conclusion that the two groups had different changes in mean energy use.</a:t>
            </a:r>
            <a:endParaRPr sz="1000">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h2994f3393d0b2db_0_12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 name="Google Shape;245;h2994f3393d0b2db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sz="1150">
                <a:solidFill>
                  <a:schemeClr val="dk1"/>
                </a:solidFill>
              </a:rPr>
              <a:t>One concern was that our data included 2020 and 2021, when COVID-19 lockdowns and changes in economic activity may have affected energy use.</a:t>
            </a:r>
            <a:endParaRPr sz="1150">
              <a:solidFill>
                <a:schemeClr val="dk1"/>
              </a:solidFill>
            </a:endParaRPr>
          </a:p>
          <a:p>
            <a:pPr marL="0" lvl="0" indent="0" algn="l" rtl="0">
              <a:lnSpc>
                <a:spcPct val="115000"/>
              </a:lnSpc>
              <a:spcBef>
                <a:spcPts val="0"/>
              </a:spcBef>
              <a:spcAft>
                <a:spcPts val="0"/>
              </a:spcAft>
              <a:buNone/>
            </a:pPr>
            <a:endParaRPr sz="115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US" sz="1150">
                <a:solidFill>
                  <a:schemeClr val="dk1"/>
                </a:solidFill>
              </a:rPr>
              <a:t>We wanted to confirm our conclusion would hold without those years, so we repeated the analysis from 2010 to 2019, keeping everything else the same.</a:t>
            </a:r>
            <a:endParaRPr sz="1150">
              <a:solidFill>
                <a:schemeClr val="dk1"/>
              </a:solidFill>
            </a:endParaRPr>
          </a:p>
          <a:p>
            <a:pPr marL="0" lvl="0" indent="0" algn="l" rtl="0">
              <a:lnSpc>
                <a:spcPct val="115000"/>
              </a:lnSpc>
              <a:spcBef>
                <a:spcPts val="0"/>
              </a:spcBef>
              <a:spcAft>
                <a:spcPts val="0"/>
              </a:spcAft>
              <a:buNone/>
            </a:pPr>
            <a:endParaRPr sz="115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US" sz="1150">
                <a:solidFill>
                  <a:schemeClr val="dk1"/>
                </a:solidFill>
              </a:rPr>
              <a:t>For 2010 to 2021, the difference between the groups was about 570 kilograms, but ending in 2019 reduced that gap to about 470 kilograms.</a:t>
            </a:r>
            <a:endParaRPr sz="1150">
              <a:solidFill>
                <a:schemeClr val="dk1"/>
              </a:solidFill>
            </a:endParaRPr>
          </a:p>
          <a:p>
            <a:pPr marL="0" lvl="0" indent="0" algn="l" rtl="0">
              <a:lnSpc>
                <a:spcPct val="115000"/>
              </a:lnSpc>
              <a:spcBef>
                <a:spcPts val="0"/>
              </a:spcBef>
              <a:spcAft>
                <a:spcPts val="0"/>
              </a:spcAft>
              <a:buNone/>
            </a:pPr>
            <a:endParaRPr sz="115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US" sz="1150">
                <a:solidFill>
                  <a:schemeClr val="dk1"/>
                </a:solidFill>
              </a:rPr>
              <a:t>However, the conclusion stayed the same. The Welch t-test still gave a very small p-value, the permutation test’s p-value was unchanged, and the confidence interval was again entirely negative.</a:t>
            </a:r>
            <a:endParaRPr sz="1150">
              <a:solidFill>
                <a:schemeClr val="dk1"/>
              </a:solidFill>
            </a:endParaRPr>
          </a:p>
          <a:p>
            <a:pPr marL="0" lvl="0" indent="0" algn="l" rtl="0">
              <a:lnSpc>
                <a:spcPct val="115000"/>
              </a:lnSpc>
              <a:spcBef>
                <a:spcPts val="0"/>
              </a:spcBef>
              <a:spcAft>
                <a:spcPts val="0"/>
              </a:spcAft>
              <a:buNone/>
            </a:pPr>
            <a:endParaRPr sz="1150">
              <a:solidFill>
                <a:schemeClr val="dk1"/>
              </a:solidFill>
            </a:endParaRPr>
          </a:p>
          <a:p>
            <a:pPr marL="0" lvl="0" indent="0" algn="l" rtl="0">
              <a:lnSpc>
                <a:spcPct val="115000"/>
              </a:lnSpc>
              <a:spcBef>
                <a:spcPts val="0"/>
              </a:spcBef>
              <a:spcAft>
                <a:spcPts val="0"/>
              </a:spcAft>
              <a:buNone/>
            </a:pPr>
            <a:r>
              <a:rPr lang="en-US" sz="1150">
                <a:solidFill>
                  <a:schemeClr val="dk1"/>
                </a:solidFill>
              </a:rPr>
              <a:t>From this, we can conclude higher and lower development countries showed different changes in energy use, on average.</a:t>
            </a:r>
            <a:endParaRPr sz="1000">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h2994f3393d0b2db_0_13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h2994f3393d0b2db_0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US" b="1">
                <a:solidFill>
                  <a:schemeClr val="dk1"/>
                </a:solidFill>
              </a:rPr>
              <a:t>Now, moving to our second research question, we examine the relationship between energy consumption per capita and GDP per capita across countries in 2021.</a:t>
            </a:r>
            <a:endParaRPr b="1">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US">
                <a:solidFill>
                  <a:schemeClr val="dk1"/>
                </a:solidFill>
              </a:rPr>
              <a:t>First, we explored the distributions of both variables. As we can see from the two histograms, both variables are strongly </a:t>
            </a:r>
            <a:r>
              <a:rPr lang="en-US" b="1">
                <a:solidFill>
                  <a:schemeClr val="dk1"/>
                </a:solidFill>
              </a:rPr>
              <a:t>right-skewed</a:t>
            </a:r>
            <a:r>
              <a:rPr lang="en-US">
                <a:solidFill>
                  <a:schemeClr val="dk1"/>
                </a:solidFill>
              </a:rPr>
              <a:t>, with a few countries having extremely high values.</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US">
                <a:solidFill>
                  <a:schemeClr val="dk1"/>
                </a:solidFill>
              </a:rPr>
              <a:t>The scatterplot shows a clear </a:t>
            </a:r>
            <a:r>
              <a:rPr lang="en-US" b="1">
                <a:solidFill>
                  <a:schemeClr val="dk1"/>
                </a:solidFill>
              </a:rPr>
              <a:t>positive relationship</a:t>
            </a:r>
            <a:r>
              <a:rPr lang="en-US">
                <a:solidFill>
                  <a:schemeClr val="dk1"/>
                </a:solidFill>
              </a:rPr>
              <a:t>: countries with higher energy consumption tend to have higher GDP per capita.</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US">
                <a:solidFill>
                  <a:schemeClr val="dk1"/>
                </a:solidFill>
              </a:rPr>
              <a:t>However, we can also see some extreme values and an uneven spread. So, before making any statistical inference, we need to check if the assumptions of the linear regression model are satisfied.</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h2994f3393d0b2db_0_32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1" name="Google Shape;291;h2994f3393d0b2db_0_3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b="1">
                <a:solidFill>
                  <a:schemeClr val="dk1"/>
                </a:solidFill>
              </a:rPr>
              <a:t>Next, we fitted the original linear regression model, with GDP per capita as the response variable and energy consumption per capita as the predictor.</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First, the residuals do not follow the straight line. This suggests that the residuals are </a:t>
            </a:r>
            <a:r>
              <a:rPr lang="en-US" b="1">
                <a:solidFill>
                  <a:schemeClr val="dk1"/>
                </a:solidFill>
              </a:rPr>
              <a:t>not approximately normal</a:t>
            </a:r>
            <a:r>
              <a:rPr lang="en-US">
                <a:solidFill>
                  <a:schemeClr val="dk1"/>
                </a:solidFill>
              </a:rPr>
              <a:t>.</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Second, the residual plot shows an uneven spread as the fitted values increase. This means the </a:t>
            </a:r>
            <a:r>
              <a:rPr lang="en-US" b="1">
                <a:solidFill>
                  <a:schemeClr val="dk1"/>
                </a:solidFill>
              </a:rPr>
              <a:t>constant variance assumption is violated</a:t>
            </a:r>
            <a:r>
              <a:rPr lang="en-US">
                <a:solidFill>
                  <a:schemeClr val="dk1"/>
                </a:solidFill>
              </a:rPr>
              <a:t>.</a:t>
            </a:r>
            <a:endParaRPr>
              <a:solidFill>
                <a:schemeClr val="dk1"/>
              </a:solidFill>
            </a:endParaRPr>
          </a:p>
          <a:p>
            <a:pPr marL="0" lvl="0" indent="0" algn="l" rtl="0">
              <a:lnSpc>
                <a:spcPct val="115000"/>
              </a:lnSpc>
              <a:spcBef>
                <a:spcPts val="1200"/>
              </a:spcBef>
              <a:spcAft>
                <a:spcPts val="1200"/>
              </a:spcAft>
              <a:buNone/>
            </a:pPr>
            <a:r>
              <a:rPr lang="en-US">
                <a:solidFill>
                  <a:schemeClr val="dk1"/>
                </a:solidFill>
              </a:rPr>
              <a:t>Although the relationship is positive, key regression assumptions are not satisfied, we decided to use log to transform both variables and then refit the model.</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h2994f3393d0b2db_0_14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1" name="Google Shape;311;h2994f3393d0b2db_0_1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b="1">
                <a:solidFill>
                  <a:schemeClr val="dk1"/>
                </a:solidFill>
              </a:rPr>
              <a:t>After we applied a log transformation to both variables, th</a:t>
            </a:r>
            <a:r>
              <a:rPr lang="en-US">
                <a:solidFill>
                  <a:schemeClr val="dk1"/>
                </a:solidFill>
              </a:rPr>
              <a:t>e results show a clear improvement.</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On the left, the log-log scatterplot shows a </a:t>
            </a:r>
            <a:r>
              <a:rPr lang="en-US" b="1">
                <a:solidFill>
                  <a:schemeClr val="dk1"/>
                </a:solidFill>
              </a:rPr>
              <a:t>more linear relationship</a:t>
            </a:r>
            <a:r>
              <a:rPr lang="en-US">
                <a:solidFill>
                  <a:schemeClr val="dk1"/>
                </a:solidFill>
              </a:rPr>
              <a:t>.</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In the middle, the residuals are now much closer to the reference line, so the </a:t>
            </a:r>
            <a:r>
              <a:rPr lang="en-US" b="1">
                <a:solidFill>
                  <a:schemeClr val="dk1"/>
                </a:solidFill>
              </a:rPr>
              <a:t>normality condition has improved</a:t>
            </a:r>
            <a:r>
              <a:rPr lang="en-US">
                <a:solidFill>
                  <a:schemeClr val="dk1"/>
                </a:solidFill>
              </a:rPr>
              <a:t>.</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And on the right, the residuals have a more consistent spread across the fitted values, so the </a:t>
            </a:r>
            <a:r>
              <a:rPr lang="en-US" b="1">
                <a:solidFill>
                  <a:schemeClr val="dk1"/>
                </a:solidFill>
              </a:rPr>
              <a:t>constant variance condition has also improved</a:t>
            </a:r>
            <a:r>
              <a:rPr lang="en-US">
                <a:solidFill>
                  <a:schemeClr val="dk1"/>
                </a:solidFill>
              </a:rPr>
              <a:t>.</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Therefore, the regression assumptions are now reasonably satisfied, and we use this </a:t>
            </a:r>
            <a:r>
              <a:rPr lang="en-US" b="1">
                <a:solidFill>
                  <a:schemeClr val="dk1"/>
                </a:solidFill>
              </a:rPr>
              <a:t>log-transformed model for our final statistical inference</a:t>
            </a:r>
            <a:r>
              <a:rPr lang="en-US">
                <a:solidFill>
                  <a:schemeClr val="dk1"/>
                </a:solidFill>
              </a:rPr>
              <a:t>.</a:t>
            </a:r>
            <a:endParaRPr>
              <a:solidFill>
                <a:schemeClr val="dk1"/>
              </a:solidFill>
            </a:endParaRPr>
          </a:p>
          <a:p>
            <a:pPr marL="0" lvl="0" indent="0" algn="l" rtl="0">
              <a:spcBef>
                <a:spcPts val="120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h2994f3393d0b2db_0_32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 name="Google Shape;334;h2994f3393d0b2db_0_3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b="1">
                <a:solidFill>
                  <a:schemeClr val="dk1"/>
                </a:solidFill>
              </a:rPr>
              <a:t>Finally, here are the results from our log-transformed model.</a:t>
            </a:r>
            <a:endParaRPr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We tested the null hypothesis that the slope is zero against the alternative that the slope is not zero.</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The estimated slope is </a:t>
            </a:r>
            <a:r>
              <a:rPr lang="en-US" b="1">
                <a:solidFill>
                  <a:schemeClr val="dk1"/>
                </a:solidFill>
              </a:rPr>
              <a:t>0.9479</a:t>
            </a:r>
            <a:r>
              <a:rPr lang="en-US">
                <a:solidFill>
                  <a:schemeClr val="dk1"/>
                </a:solidFill>
              </a:rPr>
              <a:t>, the a p-value is extremely close to zero. The entire 95% confidence interval are above 0</a:t>
            </a:r>
            <a:r>
              <a:rPr lang="en-US" b="1">
                <a:solidFill>
                  <a:schemeClr val="dk1"/>
                </a:solidFill>
              </a:rPr>
              <a:t>. </a:t>
            </a:r>
            <a:r>
              <a:rPr lang="en-US">
                <a:solidFill>
                  <a:schemeClr val="dk1"/>
                </a:solidFill>
              </a:rPr>
              <a:t>Therefore, we </a:t>
            </a:r>
            <a:r>
              <a:rPr lang="en-US" b="1">
                <a:solidFill>
                  <a:schemeClr val="dk1"/>
                </a:solidFill>
              </a:rPr>
              <a:t>reject the null hypothesis</a:t>
            </a:r>
            <a:r>
              <a:rPr lang="en-US">
                <a:solidFill>
                  <a:schemeClr val="dk1"/>
                </a:solidFill>
              </a:rPr>
              <a:t> and have sufficient statistical evidence to conclude that there is a significant positive relationship between energy consumption and GDP per capita.</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We have an R-squared of </a:t>
            </a:r>
            <a:r>
              <a:rPr lang="en-US" b="1">
                <a:solidFill>
                  <a:schemeClr val="dk1"/>
                </a:solidFill>
              </a:rPr>
              <a:t>0.787</a:t>
            </a:r>
            <a:r>
              <a:rPr lang="en-US">
                <a:solidFill>
                  <a:schemeClr val="dk1"/>
                </a:solidFill>
              </a:rPr>
              <a:t>. This means approximately </a:t>
            </a:r>
            <a:r>
              <a:rPr lang="en-US" b="1">
                <a:solidFill>
                  <a:schemeClr val="dk1"/>
                </a:solidFill>
              </a:rPr>
              <a:t>78.7% of the variation in log GDP per capita is explained by its linear relationship with log energy consumption</a:t>
            </a:r>
            <a:r>
              <a:rPr lang="en-US">
                <a:solidFill>
                  <a:schemeClr val="dk1"/>
                </a:solidFill>
              </a:rPr>
              <a:t>.</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a:solidFill>
                <a:schemeClr val="dk1"/>
              </a:solidFill>
            </a:endParaRPr>
          </a:p>
          <a:p>
            <a:pPr marL="0" lvl="0" indent="0" algn="l" rtl="0">
              <a:spcBef>
                <a:spcPts val="120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h2994f3393d0b2db_0_45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3" name="Google Shape;373;h2994f3393d0b2db_0_4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For the first question, lower-development countries increased their energy use on average, while higher-development countries decreased it, and both tests found the difference significant. When we repeated the analysis for 2010 to 2019, the result held, so it isn't just a pandemic effect. For the second question, a 1% increase in energy use is associated with about a 0.95% higher GDP per capita, and the model explains about 78.7% of the variation in log GDP. Together, energy and development are strongly connected, but the relationship changes over time. These are associations, not proof that energy causes GDP growth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h2994f3393d0b2db_0_46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4" name="Google Shape;394;h2994f3393d0b2db_0_4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a:solidFill>
                  <a:schemeClr val="dk1"/>
                </a:solidFill>
              </a:rPr>
              <a:t>Why use the median to divide the groups?</a:t>
            </a:r>
            <a:r>
              <a:rPr lang="en-US">
                <a:solidFill>
                  <a:schemeClr val="dk1"/>
                </a:solidFill>
              </a:rPr>
              <a:t> The median gives us a simple and objective cutoff and creates two similarly sized groups.</a:t>
            </a:r>
            <a:endParaRPr>
              <a:solidFill>
                <a:schemeClr val="dk1"/>
              </a:solidFill>
            </a:endParaRPr>
          </a:p>
          <a:p>
            <a:pPr marL="0" lvl="0" indent="0" algn="l" rtl="0">
              <a:spcBef>
                <a:spcPts val="0"/>
              </a:spcBef>
              <a:spcAft>
                <a:spcPts val="0"/>
              </a:spcAft>
              <a:buNone/>
            </a:pPr>
            <a:r>
              <a:rPr lang="en-US" b="1">
                <a:solidFill>
                  <a:schemeClr val="dk1"/>
                </a:solidFill>
              </a:rPr>
              <a:t>Why not use the mean GDP as the cutoff?</a:t>
            </a:r>
            <a:r>
              <a:rPr lang="en-US">
                <a:solidFill>
                  <a:schemeClr val="dk1"/>
                </a:solidFill>
              </a:rPr>
              <a:t>GDP per capita can be strongly affected by very high-income countries. The median is less sensitive to extreme values. </a:t>
            </a:r>
            <a:endParaRPr>
              <a:solidFill>
                <a:schemeClr val="dk1"/>
              </a:solidFill>
            </a:endParaRPr>
          </a:p>
          <a:p>
            <a:pPr marL="0" lvl="0" indent="0" algn="l" rtl="0">
              <a:spcBef>
                <a:spcPts val="0"/>
              </a:spcBef>
              <a:spcAft>
                <a:spcPts val="0"/>
              </a:spcAft>
              <a:buNone/>
            </a:pPr>
            <a:r>
              <a:rPr lang="en-US" b="1">
                <a:solidFill>
                  <a:schemeClr val="dk1"/>
                </a:solidFill>
              </a:rPr>
              <a:t>Why did you use Welch’s t-test?</a:t>
            </a:r>
            <a:r>
              <a:rPr lang="en-US">
                <a:solidFill>
                  <a:schemeClr val="dk1"/>
                </a:solidFill>
              </a:rPr>
              <a:t> Welch’s t-test compares two independent means without requiring the two groups to have equal variances.</a:t>
            </a:r>
            <a:endParaRPr>
              <a:solidFill>
                <a:schemeClr val="dk1"/>
              </a:solidFill>
            </a:endParaRPr>
          </a:p>
          <a:p>
            <a:pPr marL="0" lvl="0" indent="0" algn="l" rtl="0">
              <a:spcBef>
                <a:spcPts val="0"/>
              </a:spcBef>
              <a:spcAft>
                <a:spcPts val="0"/>
              </a:spcAft>
              <a:buNone/>
            </a:pPr>
            <a:r>
              <a:rPr lang="en-US" b="1">
                <a:solidFill>
                  <a:schemeClr val="dk1"/>
                </a:solidFill>
              </a:rPr>
              <a:t>Why not use a paired t-test?</a:t>
            </a:r>
            <a:r>
              <a:rPr lang="en-US">
                <a:solidFill>
                  <a:schemeClr val="dk1"/>
                </a:solidFill>
              </a:rPr>
              <a:t> Because we already calculated one change value for each country, and then we compare those change values between two independent groups. </a:t>
            </a:r>
            <a:endParaRPr>
              <a:solidFill>
                <a:schemeClr val="dk1"/>
              </a:solidFill>
            </a:endParaRPr>
          </a:p>
          <a:p>
            <a:pPr marL="0" lvl="0" indent="0" algn="l" rtl="0">
              <a:spcBef>
                <a:spcPts val="0"/>
              </a:spcBef>
              <a:spcAft>
                <a:spcPts val="0"/>
              </a:spcAft>
              <a:buNone/>
            </a:pPr>
            <a:r>
              <a:rPr lang="en-US" b="1">
                <a:solidFill>
                  <a:schemeClr val="dk1"/>
                </a:solidFill>
              </a:rPr>
              <a:t>Why did you also use a permutation test?</a:t>
            </a:r>
            <a:r>
              <a:rPr lang="en-US">
                <a:solidFill>
                  <a:schemeClr val="dk1"/>
                </a:solidFill>
              </a:rPr>
              <a:t>It provides another way to test the group difference with fewer distributional assumptions.</a:t>
            </a:r>
            <a:endParaRPr>
              <a:solidFill>
                <a:schemeClr val="dk1"/>
              </a:solidFill>
            </a:endParaRPr>
          </a:p>
          <a:p>
            <a:pPr marL="0" lvl="0" indent="0" algn="l" rtl="0">
              <a:spcBef>
                <a:spcPts val="0"/>
              </a:spcBef>
              <a:spcAft>
                <a:spcPts val="0"/>
              </a:spcAft>
              <a:buNone/>
            </a:pPr>
            <a:r>
              <a:rPr lang="en-US" b="1"/>
              <a:t>Can you say every lower-development country increased energy use?</a:t>
            </a:r>
            <a:r>
              <a:rPr lang="en-US"/>
              <a:t> No. We are comparing group averages. Individual countries can behave differently.</a:t>
            </a:r>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lnSpc>
                <a:spcPct val="100000"/>
              </a:lnSpc>
              <a:spcBef>
                <a:spcPts val="0"/>
              </a:spcBef>
              <a:spcAft>
                <a:spcPts val="0"/>
              </a:spcAft>
              <a:buNone/>
            </a:pPr>
            <a:r>
              <a:rPr lang="en-US" b="1">
                <a:solidFill>
                  <a:schemeClr val="dk1"/>
                </a:solidFill>
              </a:rPr>
              <a:t>Why did you log both variables instead of only GDP?</a:t>
            </a:r>
            <a:r>
              <a:rPr lang="en-US">
                <a:solidFill>
                  <a:schemeClr val="dk1"/>
                </a:solidFill>
              </a:rPr>
              <a:t> Both variables were strongly right-skewed, so transforming both produced a clearer linear relationship and better diagnostics.</a:t>
            </a:r>
            <a:endParaRPr>
              <a:solidFill>
                <a:schemeClr val="dk1"/>
              </a:solidFill>
            </a:endParaRPr>
          </a:p>
          <a:p>
            <a:pPr marL="0" lvl="0" indent="0" algn="l" rtl="0">
              <a:lnSpc>
                <a:spcPct val="100000"/>
              </a:lnSpc>
              <a:spcBef>
                <a:spcPts val="0"/>
              </a:spcBef>
              <a:spcAft>
                <a:spcPts val="0"/>
              </a:spcAft>
              <a:buNone/>
            </a:pPr>
            <a:r>
              <a:rPr lang="en-US" b="1">
                <a:solidFill>
                  <a:schemeClr val="dk1"/>
                </a:solidFill>
              </a:rPr>
              <a:t>Why can you interpret the slope as a percentage?</a:t>
            </a:r>
            <a:r>
              <a:rPr lang="en-US">
                <a:solidFill>
                  <a:schemeClr val="dk1"/>
                </a:solidFill>
              </a:rPr>
              <a:t>, Because both variables are log-transformed. In a log-log model, the slope represents the percentage change in Y for a 1% change in X.</a:t>
            </a:r>
            <a:endParaRPr>
              <a:solidFill>
                <a:schemeClr val="dk1"/>
              </a:solidFill>
            </a:endParaRPr>
          </a:p>
          <a:p>
            <a:pPr marL="0" lvl="0" indent="0" algn="l" rtl="0">
              <a:lnSpc>
                <a:spcPct val="100000"/>
              </a:lnSpc>
              <a:spcBef>
                <a:spcPts val="0"/>
              </a:spcBef>
              <a:spcAft>
                <a:spcPts val="0"/>
              </a:spcAft>
              <a:buNone/>
            </a:pPr>
            <a:r>
              <a:rPr lang="en-US" b="1">
                <a:solidFill>
                  <a:schemeClr val="dk1"/>
                </a:solidFill>
              </a:rPr>
              <a:t>If you switch X and Y, will the regression be the same? </a:t>
            </a:r>
            <a:r>
              <a:rPr lang="en-US">
                <a:solidFill>
                  <a:schemeClr val="dk1"/>
                </a:solidFill>
              </a:rPr>
              <a:t>No. Regression is directional, so switching X and Y changes the regression equation. Correlation, however, stays the same. </a:t>
            </a:r>
            <a:endParaRPr>
              <a:solidFill>
                <a:schemeClr val="dk1"/>
              </a:solidFill>
            </a:endParaRPr>
          </a:p>
          <a:p>
            <a:pPr marL="0" lvl="0" indent="0" algn="l" rtl="0">
              <a:lnSpc>
                <a:spcPct val="100000"/>
              </a:lnSpc>
              <a:spcBef>
                <a:spcPts val="0"/>
              </a:spcBef>
              <a:spcAft>
                <a:spcPts val="0"/>
              </a:spcAft>
              <a:buNone/>
            </a:pPr>
            <a:r>
              <a:rPr lang="en-US" b="1">
                <a:solidFill>
                  <a:schemeClr val="dk1"/>
                </a:solidFill>
              </a:rPr>
              <a:t>What is a Type I error here? </a:t>
            </a:r>
            <a:r>
              <a:rPr lang="en-US">
                <a:solidFill>
                  <a:schemeClr val="dk1"/>
                </a:solidFill>
              </a:rPr>
              <a:t>Concluding there is a relationship between log energy and log GDP when there actually is no relationship in the population.</a:t>
            </a:r>
            <a:endParaRPr>
              <a:solidFill>
                <a:schemeClr val="dk1"/>
              </a:solidFill>
            </a:endParaRPr>
          </a:p>
          <a:p>
            <a:pPr marL="0" lvl="0" indent="0" algn="l" rtl="0">
              <a:lnSpc>
                <a:spcPct val="100000"/>
              </a:lnSpc>
              <a:spcBef>
                <a:spcPts val="0"/>
              </a:spcBef>
              <a:spcAft>
                <a:spcPts val="0"/>
              </a:spcAft>
              <a:buNone/>
            </a:pPr>
            <a:r>
              <a:rPr lang="en-US" b="1">
                <a:solidFill>
                  <a:schemeClr val="dk1"/>
                </a:solidFill>
              </a:rPr>
              <a:t>Why not just remove the extreme countries instead of using logs? </a:t>
            </a:r>
            <a:r>
              <a:rPr lang="en-US">
                <a:solidFill>
                  <a:schemeClr val="dk1"/>
                </a:solidFill>
              </a:rPr>
              <a:t>Extreme values are not necessarily errors. They are real countries, so we should not remove them without justification. Log transformation reduces their influence while keeping the observations </a:t>
            </a:r>
            <a:endParaRPr>
              <a:solidFill>
                <a:schemeClr val="dk1"/>
              </a:solidFill>
            </a:endParaRPr>
          </a:p>
          <a:p>
            <a:pPr marL="0" lvl="0" indent="0" algn="l" rtl="0">
              <a:lnSpc>
                <a:spcPct val="100000"/>
              </a:lnSpc>
              <a:spcBef>
                <a:spcPts val="0"/>
              </a:spcBef>
              <a:spcAft>
                <a:spcPts val="0"/>
              </a:spcAft>
              <a:buNone/>
            </a:pPr>
            <a:endParaRPr>
              <a:solidFill>
                <a:schemeClr val="dk1"/>
              </a:solidFill>
            </a:endParaRPr>
          </a:p>
          <a:p>
            <a:pPr marL="0" lvl="0" indent="0" algn="l" rtl="0">
              <a:lnSpc>
                <a:spcPct val="100000"/>
              </a:lnSpc>
              <a:spcBef>
                <a:spcPts val="0"/>
              </a:spcBef>
              <a:spcAft>
                <a:spcPts val="0"/>
              </a:spcAft>
              <a:buNone/>
            </a:pPr>
            <a:r>
              <a:rPr lang="en-US" b="1">
                <a:solidFill>
                  <a:schemeClr val="dk1"/>
                </a:solidFill>
              </a:rPr>
              <a:t>What is your biggest limitation?</a:t>
            </a:r>
            <a:r>
              <a:rPr lang="en-US">
                <a:solidFill>
                  <a:schemeClr val="dk1"/>
                </a:solidFill>
              </a:rPr>
              <a:t>This is observational, cross-sectional data from one year, so we can identify association but cannot establish causation.</a:t>
            </a:r>
            <a:endParaRPr>
              <a:solidFill>
                <a:schemeClr val="dk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4"/>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4"/>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6"/>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6"/>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7"/>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7"/>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8"/>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8"/>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8"/>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8"/>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0"/>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0"/>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10"/>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1"/>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1"/>
          <p:cNvSpPr>
            <a:spLocks noGrp="1"/>
          </p:cNvSpPr>
          <p:nvPr>
            <p:ph type="pic" idx="2"/>
          </p:nvPr>
        </p:nvSpPr>
        <p:spPr>
          <a:xfrm>
            <a:off x="1792288" y="612775"/>
            <a:ext cx="5486400" cy="4114800"/>
          </a:xfrm>
          <a:prstGeom prst="rect">
            <a:avLst/>
          </a:prstGeom>
          <a:noFill/>
          <a:ln>
            <a:noFill/>
          </a:ln>
        </p:spPr>
      </p:sp>
      <p:sp>
        <p:nvSpPr>
          <p:cNvPr id="64" name="Google Shape;64;p11"/>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2"/>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3"/>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3"/>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h2994f3393d0b2db_0_5"/>
          <p:cNvSpPr txBox="1">
            <a:spLocks noGrp="1"/>
          </p:cNvSpPr>
          <p:nvPr>
            <p:ph type="ctrTitle"/>
          </p:nvPr>
        </p:nvSpPr>
        <p:spPr>
          <a:xfrm>
            <a:off x="914376" y="2840567"/>
            <a:ext cx="10362900" cy="19599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endParaRPr/>
          </a:p>
        </p:txBody>
      </p:sp>
      <p:sp>
        <p:nvSpPr>
          <p:cNvPr id="85" name="Google Shape;85;h2994f3393d0b2db_0_5"/>
          <p:cNvSpPr txBox="1">
            <a:spLocks noGrp="1"/>
          </p:cNvSpPr>
          <p:nvPr>
            <p:ph type="subTitle" idx="1"/>
          </p:nvPr>
        </p:nvSpPr>
        <p:spPr>
          <a:xfrm>
            <a:off x="1828751" y="5181600"/>
            <a:ext cx="8534100" cy="2336700"/>
          </a:xfrm>
          <a:prstGeom prst="rect">
            <a:avLst/>
          </a:prstGeom>
        </p:spPr>
        <p:txBody>
          <a:bodyPr spcFirstLastPara="1" wrap="square" lIns="91425" tIns="45700" rIns="91425" bIns="45700" anchor="t" anchorCtr="0">
            <a:normAutofit/>
          </a:bodyPr>
          <a:lstStyle/>
          <a:p>
            <a:pPr marL="0" lvl="0" indent="0" algn="ctr" rtl="0">
              <a:spcBef>
                <a:spcPts val="640"/>
              </a:spcBef>
              <a:spcAft>
                <a:spcPts val="0"/>
              </a:spcAft>
              <a:buNone/>
            </a:pPr>
            <a:endParaRPr/>
          </a:p>
        </p:txBody>
      </p:sp>
      <p:sp>
        <p:nvSpPr>
          <p:cNvPr id="86" name="Google Shape;86;h2994f3393d0b2db_0_5"/>
          <p:cNvSpPr/>
          <p:nvPr/>
        </p:nvSpPr>
        <p:spPr>
          <a:xfrm>
            <a:off x="0" y="0"/>
            <a:ext cx="16255200" cy="9144000"/>
          </a:xfrm>
          <a:prstGeom prst="rect">
            <a:avLst/>
          </a:prstGeom>
          <a:solidFill>
            <a:srgbClr val="FBFAF7"/>
          </a:solidFill>
          <a:ln>
            <a:noFill/>
          </a:ln>
          <a:effectLst>
            <a:outerShdw blurRad="53332" dist="30666" dir="5400000" rotWithShape="0">
              <a:srgbClr val="000000">
                <a:alpha val="34900"/>
              </a:srgbClr>
            </a:outerShdw>
          </a:effectLst>
        </p:spPr>
        <p:txBody>
          <a:bodyPr spcFirstLastPara="1" wrap="square" lIns="121900" tIns="60925" rIns="121900" bIns="60925" anchor="ctr" anchorCtr="0">
            <a:noAutofit/>
          </a:bodyPr>
          <a:lstStyle/>
          <a:p>
            <a:pPr marL="0" marR="0" lvl="0" indent="0" algn="ctr" rtl="0">
              <a:spcBef>
                <a:spcPts val="0"/>
              </a:spcBef>
              <a:spcAft>
                <a:spcPts val="0"/>
              </a:spcAft>
              <a:buNone/>
            </a:pPr>
            <a:endParaRPr sz="2400" b="0" i="0" u="none" strike="noStrike" cap="none">
              <a:solidFill>
                <a:srgbClr val="000000"/>
              </a:solidFill>
              <a:latin typeface="Calibri"/>
              <a:ea typeface="Calibri"/>
              <a:cs typeface="Calibri"/>
              <a:sym typeface="Calibri"/>
            </a:endParaRPr>
          </a:p>
        </p:txBody>
      </p:sp>
      <p:pic>
        <p:nvPicPr>
          <p:cNvPr id="87" name="Google Shape;87;h2994f3393d0b2db_0_5" descr="britannica-insights-Phil-the-Fixer-renewable-energy.png"/>
          <p:cNvPicPr preferRelativeResize="0"/>
          <p:nvPr/>
        </p:nvPicPr>
        <p:blipFill rotWithShape="1">
          <a:blip r:embed="rId3">
            <a:alphaModFix/>
          </a:blip>
          <a:srcRect l="19853" t="2894"/>
          <a:stretch/>
        </p:blipFill>
        <p:spPr>
          <a:xfrm>
            <a:off x="7472033" y="0"/>
            <a:ext cx="5650782" cy="8879234"/>
          </a:xfrm>
          <a:prstGeom prst="rect">
            <a:avLst/>
          </a:prstGeom>
          <a:noFill/>
          <a:ln>
            <a:noFill/>
          </a:ln>
        </p:spPr>
      </p:pic>
      <p:sp>
        <p:nvSpPr>
          <p:cNvPr id="88" name="Google Shape;88;h2994f3393d0b2db_0_5"/>
          <p:cNvSpPr txBox="1"/>
          <p:nvPr/>
        </p:nvSpPr>
        <p:spPr>
          <a:xfrm>
            <a:off x="853417" y="771593"/>
            <a:ext cx="6949500" cy="492600"/>
          </a:xfrm>
          <a:prstGeom prst="rect">
            <a:avLst/>
          </a:prstGeom>
          <a:noFill/>
          <a:ln>
            <a:noFill/>
          </a:ln>
        </p:spPr>
        <p:txBody>
          <a:bodyPr spcFirstLastPara="1" wrap="square" lIns="121900" tIns="60925" rIns="121900" bIns="60925" anchor="t" anchorCtr="0">
            <a:spAutoFit/>
          </a:bodyPr>
          <a:lstStyle/>
          <a:p>
            <a:pPr marL="0" marR="0" lvl="0" indent="0" algn="l" rtl="0">
              <a:spcBef>
                <a:spcPts val="0"/>
              </a:spcBef>
              <a:spcAft>
                <a:spcPts val="0"/>
              </a:spcAft>
              <a:buNone/>
            </a:pPr>
            <a:r>
              <a:rPr lang="en-US" sz="2400" b="1" i="0" u="none" strike="noStrike" cap="none">
                <a:solidFill>
                  <a:srgbClr val="184168"/>
                </a:solidFill>
                <a:latin typeface="Arial"/>
                <a:ea typeface="Arial"/>
                <a:cs typeface="Arial"/>
                <a:sym typeface="Arial"/>
              </a:rPr>
              <a:t>DATA 602</a:t>
            </a:r>
            <a:r>
              <a:rPr lang="en-US" sz="2400" b="1">
                <a:solidFill>
                  <a:srgbClr val="184168"/>
                </a:solidFill>
              </a:rPr>
              <a:t> PROJECT</a:t>
            </a:r>
            <a:endParaRPr sz="2800"/>
          </a:p>
        </p:txBody>
      </p:sp>
      <p:sp>
        <p:nvSpPr>
          <p:cNvPr id="89" name="Google Shape;89;h2994f3393d0b2db_0_5"/>
          <p:cNvSpPr/>
          <p:nvPr/>
        </p:nvSpPr>
        <p:spPr>
          <a:xfrm>
            <a:off x="853417" y="1243584"/>
            <a:ext cx="853500" cy="60900"/>
          </a:xfrm>
          <a:prstGeom prst="rect">
            <a:avLst/>
          </a:prstGeom>
          <a:solidFill>
            <a:srgbClr val="427D52"/>
          </a:solidFill>
          <a:ln>
            <a:noFill/>
          </a:ln>
          <a:effectLst>
            <a:outerShdw blurRad="53332" dist="30666" dir="5400000" rotWithShape="0">
              <a:srgbClr val="000000">
                <a:alpha val="34900"/>
              </a:srgbClr>
            </a:outerShdw>
          </a:effectLst>
        </p:spPr>
        <p:txBody>
          <a:bodyPr spcFirstLastPara="1" wrap="square" lIns="121900" tIns="60925" rIns="121900" bIns="60925" anchor="ctr" anchorCtr="0">
            <a:noAutofit/>
          </a:bodyPr>
          <a:lstStyle/>
          <a:p>
            <a:pPr marL="0" marR="0" lvl="0" indent="0" algn="ctr" rtl="0">
              <a:spcBef>
                <a:spcPts val="0"/>
              </a:spcBef>
              <a:spcAft>
                <a:spcPts val="0"/>
              </a:spcAft>
              <a:buNone/>
            </a:pPr>
            <a:endParaRPr sz="2400" b="0" i="0" u="none" strike="noStrike" cap="none">
              <a:solidFill>
                <a:srgbClr val="000000"/>
              </a:solidFill>
              <a:latin typeface="Calibri"/>
              <a:ea typeface="Calibri"/>
              <a:cs typeface="Calibri"/>
              <a:sym typeface="Calibri"/>
            </a:endParaRPr>
          </a:p>
        </p:txBody>
      </p:sp>
      <p:sp>
        <p:nvSpPr>
          <p:cNvPr id="90" name="Google Shape;90;h2994f3393d0b2db_0_5"/>
          <p:cNvSpPr txBox="1"/>
          <p:nvPr/>
        </p:nvSpPr>
        <p:spPr>
          <a:xfrm>
            <a:off x="853417" y="1889760"/>
            <a:ext cx="7863900" cy="815700"/>
          </a:xfrm>
          <a:prstGeom prst="rect">
            <a:avLst/>
          </a:prstGeom>
          <a:noFill/>
          <a:ln>
            <a:noFill/>
          </a:ln>
        </p:spPr>
        <p:txBody>
          <a:bodyPr spcFirstLastPara="1" wrap="square" lIns="121900" tIns="60925" rIns="121900" bIns="60925" anchor="t" anchorCtr="0">
            <a:spAutoFit/>
          </a:bodyPr>
          <a:lstStyle/>
          <a:p>
            <a:pPr marL="0" marR="0" lvl="0" indent="0" algn="l" rtl="0">
              <a:spcBef>
                <a:spcPts val="0"/>
              </a:spcBef>
              <a:spcAft>
                <a:spcPts val="0"/>
              </a:spcAft>
              <a:buNone/>
            </a:pPr>
            <a:r>
              <a:rPr lang="en-US" sz="4500" b="1" i="0" u="none" strike="noStrike" cap="none">
                <a:solidFill>
                  <a:srgbClr val="184168"/>
                </a:solidFill>
                <a:latin typeface="Play"/>
                <a:ea typeface="Play"/>
                <a:cs typeface="Play"/>
                <a:sym typeface="Play"/>
              </a:rPr>
              <a:t>Energy Consumption</a:t>
            </a:r>
            <a:endParaRPr sz="2200"/>
          </a:p>
        </p:txBody>
      </p:sp>
      <p:sp>
        <p:nvSpPr>
          <p:cNvPr id="91" name="Google Shape;91;h2994f3393d0b2db_0_5"/>
          <p:cNvSpPr txBox="1"/>
          <p:nvPr/>
        </p:nvSpPr>
        <p:spPr>
          <a:xfrm>
            <a:off x="853417" y="2743200"/>
            <a:ext cx="7863900" cy="784800"/>
          </a:xfrm>
          <a:prstGeom prst="rect">
            <a:avLst/>
          </a:prstGeom>
          <a:noFill/>
          <a:ln>
            <a:noFill/>
          </a:ln>
        </p:spPr>
        <p:txBody>
          <a:bodyPr spcFirstLastPara="1" wrap="square" lIns="121900" tIns="60925" rIns="121900" bIns="60925" anchor="t" anchorCtr="0">
            <a:spAutoFit/>
          </a:bodyPr>
          <a:lstStyle/>
          <a:p>
            <a:pPr marL="0" marR="0" lvl="0" indent="0" algn="l" rtl="0">
              <a:spcBef>
                <a:spcPts val="0"/>
              </a:spcBef>
              <a:spcAft>
                <a:spcPts val="0"/>
              </a:spcAft>
              <a:buNone/>
            </a:pPr>
            <a:r>
              <a:rPr lang="en-US" sz="4300" b="1" i="0" u="none" strike="noStrike" cap="none">
                <a:solidFill>
                  <a:srgbClr val="427D52"/>
                </a:solidFill>
                <a:latin typeface="Play"/>
                <a:ea typeface="Play"/>
                <a:cs typeface="Play"/>
                <a:sym typeface="Play"/>
              </a:rPr>
              <a:t>and Economic Growth</a:t>
            </a:r>
            <a:endParaRPr sz="2200"/>
          </a:p>
        </p:txBody>
      </p:sp>
      <p:sp>
        <p:nvSpPr>
          <p:cNvPr id="92" name="Google Shape;92;h2994f3393d0b2db_0_5"/>
          <p:cNvSpPr txBox="1"/>
          <p:nvPr/>
        </p:nvSpPr>
        <p:spPr>
          <a:xfrm>
            <a:off x="914366" y="3597033"/>
            <a:ext cx="7193100" cy="892800"/>
          </a:xfrm>
          <a:prstGeom prst="rect">
            <a:avLst/>
          </a:prstGeom>
          <a:noFill/>
          <a:ln>
            <a:noFill/>
          </a:ln>
        </p:spPr>
        <p:txBody>
          <a:bodyPr spcFirstLastPara="1" wrap="square" lIns="121900" tIns="60925" rIns="121900" bIns="60925" anchor="t" anchorCtr="0">
            <a:spAutoFit/>
          </a:bodyPr>
          <a:lstStyle/>
          <a:p>
            <a:pPr marL="0" marR="0" lvl="0" indent="0" algn="l" rtl="0">
              <a:spcBef>
                <a:spcPts val="0"/>
              </a:spcBef>
              <a:spcAft>
                <a:spcPts val="0"/>
              </a:spcAft>
              <a:buNone/>
            </a:pPr>
            <a:r>
              <a:rPr lang="en-US" sz="2500" b="0" i="0" u="none" strike="noStrike" cap="none">
                <a:solidFill>
                  <a:srgbClr val="48525C"/>
                </a:solidFill>
                <a:latin typeface="Arial"/>
                <a:ea typeface="Arial"/>
                <a:cs typeface="Arial"/>
                <a:sym typeface="Arial"/>
              </a:rPr>
              <a:t>Exploring Energy-Use Patterns and</a:t>
            </a:r>
            <a:br>
              <a:rPr lang="en-US" sz="2500" b="0" i="0" u="none" strike="noStrike" cap="none">
                <a:solidFill>
                  <a:srgbClr val="48525C"/>
                </a:solidFill>
                <a:latin typeface="Arial"/>
                <a:ea typeface="Arial"/>
                <a:cs typeface="Arial"/>
                <a:sym typeface="Arial"/>
              </a:rPr>
            </a:br>
            <a:r>
              <a:rPr lang="en-US" sz="2500" b="0" i="0" u="none" strike="noStrike" cap="none">
                <a:solidFill>
                  <a:srgbClr val="48525C"/>
                </a:solidFill>
                <a:latin typeface="Arial"/>
                <a:ea typeface="Arial"/>
                <a:cs typeface="Arial"/>
                <a:sym typeface="Arial"/>
              </a:rPr>
              <a:t>Economic Development Across Countries</a:t>
            </a:r>
            <a:endParaRPr sz="2200"/>
          </a:p>
        </p:txBody>
      </p:sp>
      <p:sp>
        <p:nvSpPr>
          <p:cNvPr id="93" name="Google Shape;93;h2994f3393d0b2db_0_5"/>
          <p:cNvSpPr/>
          <p:nvPr/>
        </p:nvSpPr>
        <p:spPr>
          <a:xfrm>
            <a:off x="13045092" y="8436864"/>
            <a:ext cx="2743200" cy="426900"/>
          </a:xfrm>
          <a:prstGeom prst="roundRect">
            <a:avLst>
              <a:gd name="adj" fmla="val 16667"/>
            </a:avLst>
          </a:prstGeom>
          <a:solidFill>
            <a:srgbClr val="FFFFFF"/>
          </a:solidFill>
          <a:ln>
            <a:noFill/>
          </a:ln>
          <a:effectLst>
            <a:outerShdw blurRad="53332" dist="30666" dir="5400000" rotWithShape="0">
              <a:srgbClr val="000000">
                <a:alpha val="34900"/>
              </a:srgbClr>
            </a:outerShdw>
          </a:effectLst>
        </p:spPr>
        <p:txBody>
          <a:bodyPr spcFirstLastPara="1" wrap="square" lIns="121900" tIns="60925" rIns="121900" bIns="60925" anchor="ctr" anchorCtr="0">
            <a:noAutofit/>
          </a:bodyPr>
          <a:lstStyle/>
          <a:p>
            <a:pPr marL="0" marR="0" lvl="0" indent="0" algn="ctr" rtl="0">
              <a:spcBef>
                <a:spcPts val="0"/>
              </a:spcBef>
              <a:spcAft>
                <a:spcPts val="0"/>
              </a:spcAft>
              <a:buNone/>
            </a:pPr>
            <a:endParaRPr sz="2400" b="0" i="0" u="none" strike="noStrike" cap="none">
              <a:solidFill>
                <a:srgbClr val="000000"/>
              </a:solidFill>
              <a:latin typeface="Calibri"/>
              <a:ea typeface="Calibri"/>
              <a:cs typeface="Calibri"/>
              <a:sym typeface="Calibri"/>
            </a:endParaRPr>
          </a:p>
        </p:txBody>
      </p:sp>
      <p:sp>
        <p:nvSpPr>
          <p:cNvPr id="94" name="Google Shape;94;h2994f3393d0b2db_0_5"/>
          <p:cNvSpPr txBox="1"/>
          <p:nvPr/>
        </p:nvSpPr>
        <p:spPr>
          <a:xfrm>
            <a:off x="13191392" y="8510016"/>
            <a:ext cx="2438400" cy="276900"/>
          </a:xfrm>
          <a:prstGeom prst="rect">
            <a:avLst/>
          </a:prstGeom>
          <a:noFill/>
          <a:ln>
            <a:noFill/>
          </a:ln>
        </p:spPr>
        <p:txBody>
          <a:bodyPr spcFirstLastPara="1" wrap="square" lIns="121900" tIns="60925" rIns="121900" bIns="60925" anchor="t" anchorCtr="0">
            <a:spAutoFit/>
          </a:bodyPr>
          <a:lstStyle/>
          <a:p>
            <a:pPr marL="0" marR="0" lvl="0" indent="0" algn="l" rtl="0">
              <a:spcBef>
                <a:spcPts val="0"/>
              </a:spcBef>
              <a:spcAft>
                <a:spcPts val="0"/>
              </a:spcAft>
              <a:buNone/>
            </a:pPr>
            <a:r>
              <a:rPr lang="en-US" sz="1000" b="0" i="0" u="none" strike="noStrike" cap="none">
                <a:solidFill>
                  <a:srgbClr val="184168"/>
                </a:solidFill>
                <a:latin typeface="Arial"/>
                <a:ea typeface="Arial"/>
                <a:cs typeface="Arial"/>
                <a:sym typeface="Arial"/>
              </a:rPr>
              <a:t>Photo: Britannica</a:t>
            </a:r>
            <a:endParaRPr sz="1900"/>
          </a:p>
        </p:txBody>
      </p:sp>
      <p:sp>
        <p:nvSpPr>
          <p:cNvPr id="95" name="Google Shape;95;h2994f3393d0b2db_0_5"/>
          <p:cNvSpPr txBox="1"/>
          <p:nvPr/>
        </p:nvSpPr>
        <p:spPr>
          <a:xfrm>
            <a:off x="914376" y="4995581"/>
            <a:ext cx="12357600" cy="430800"/>
          </a:xfrm>
          <a:prstGeom prst="rect">
            <a:avLst/>
          </a:prstGeom>
          <a:noFill/>
          <a:ln>
            <a:noFill/>
          </a:ln>
        </p:spPr>
        <p:txBody>
          <a:bodyPr spcFirstLastPara="1" wrap="square" lIns="121900" tIns="60925" rIns="121900" bIns="60925" anchor="t" anchorCtr="0">
            <a:spAutoFit/>
          </a:bodyPr>
          <a:lstStyle/>
          <a:p>
            <a:pPr marL="0" marR="0" lvl="0" indent="0" algn="l" rtl="0">
              <a:spcBef>
                <a:spcPts val="0"/>
              </a:spcBef>
              <a:spcAft>
                <a:spcPts val="0"/>
              </a:spcAft>
              <a:buNone/>
            </a:pPr>
            <a:r>
              <a:rPr lang="en-US" sz="2000" b="1" i="1" u="none" strike="noStrike" cap="none">
                <a:solidFill>
                  <a:srgbClr val="112341"/>
                </a:solidFill>
                <a:latin typeface="Arial"/>
                <a:ea typeface="Arial"/>
                <a:cs typeface="Arial"/>
                <a:sym typeface="Arial"/>
              </a:rPr>
              <a:t>Abijeet Dhillon, Noor Fatima, Tam Nguyen</a:t>
            </a:r>
            <a:endParaRPr sz="2400"/>
          </a:p>
        </p:txBody>
      </p:sp>
      <p:sp>
        <p:nvSpPr>
          <p:cNvPr id="96" name="Google Shape;96;h2994f3393d0b2db_0_5"/>
          <p:cNvSpPr txBox="1"/>
          <p:nvPr/>
        </p:nvSpPr>
        <p:spPr>
          <a:xfrm>
            <a:off x="914376" y="5415292"/>
            <a:ext cx="12357600" cy="415500"/>
          </a:xfrm>
          <a:prstGeom prst="rect">
            <a:avLst/>
          </a:prstGeom>
          <a:noFill/>
          <a:ln>
            <a:noFill/>
          </a:ln>
        </p:spPr>
        <p:txBody>
          <a:bodyPr spcFirstLastPara="1" wrap="square" lIns="121900" tIns="60925" rIns="121900" bIns="60925" anchor="t" anchorCtr="0">
            <a:spAutoFit/>
          </a:bodyPr>
          <a:lstStyle/>
          <a:p>
            <a:pPr marL="0" marR="0" lvl="0" indent="0" algn="l" rtl="0">
              <a:spcBef>
                <a:spcPts val="0"/>
              </a:spcBef>
              <a:spcAft>
                <a:spcPts val="0"/>
              </a:spcAft>
              <a:buNone/>
            </a:pPr>
            <a:r>
              <a:rPr lang="en-US" sz="1900" b="0" i="1" u="none" strike="noStrike" cap="none">
                <a:solidFill>
                  <a:srgbClr val="4C5262"/>
                </a:solidFill>
                <a:latin typeface="Arial"/>
                <a:ea typeface="Arial"/>
                <a:cs typeface="Arial"/>
                <a:sym typeface="Arial"/>
              </a:rPr>
              <a:t>Date: Oct. </a:t>
            </a:r>
            <a:r>
              <a:rPr lang="en-US" sz="1900" i="1">
                <a:solidFill>
                  <a:srgbClr val="4C5262"/>
                </a:solidFill>
              </a:rPr>
              <a:t>6</a:t>
            </a:r>
            <a:r>
              <a:rPr lang="en-US" sz="1900" b="0" i="1" u="none" strike="noStrike" cap="none">
                <a:solidFill>
                  <a:srgbClr val="4C5262"/>
                </a:solidFill>
                <a:latin typeface="Arial"/>
                <a:ea typeface="Arial"/>
                <a:cs typeface="Arial"/>
                <a:sym typeface="Arial"/>
              </a:rPr>
              <a:t>th, 2026</a:t>
            </a:r>
            <a:endParaRPr sz="2400"/>
          </a:p>
        </p:txBody>
      </p:sp>
      <p:sp>
        <p:nvSpPr>
          <p:cNvPr id="97" name="Google Shape;97;h2994f3393d0b2db_0_5"/>
          <p:cNvSpPr/>
          <p:nvPr/>
        </p:nvSpPr>
        <p:spPr>
          <a:xfrm>
            <a:off x="914376" y="8107680"/>
            <a:ext cx="97500" cy="97500"/>
          </a:xfrm>
          <a:prstGeom prst="ellipse">
            <a:avLst/>
          </a:prstGeom>
          <a:solidFill>
            <a:srgbClr val="6C48C2"/>
          </a:solidFill>
          <a:ln>
            <a:noFill/>
          </a:ln>
          <a:effectLst>
            <a:outerShdw blurRad="53332" dist="30666" dir="5400000" rotWithShape="0">
              <a:srgbClr val="000000">
                <a:alpha val="34900"/>
              </a:srgbClr>
            </a:outerShdw>
          </a:effectLst>
        </p:spPr>
        <p:txBody>
          <a:bodyPr spcFirstLastPara="1" wrap="square" lIns="121900" tIns="60925" rIns="121900" bIns="60925" anchor="ctr" anchorCtr="0">
            <a:noAutofit/>
          </a:bodyPr>
          <a:lstStyle/>
          <a:p>
            <a:pPr marL="0" marR="0" lvl="0" indent="0" algn="ctr" rtl="0">
              <a:spcBef>
                <a:spcPts val="0"/>
              </a:spcBef>
              <a:spcAft>
                <a:spcPts val="0"/>
              </a:spcAft>
              <a:buNone/>
            </a:pPr>
            <a:endParaRPr sz="2400" b="0" i="0" u="none" strike="noStrike" cap="none">
              <a:solidFill>
                <a:srgbClr val="000000"/>
              </a:solidFill>
              <a:latin typeface="Calibri"/>
              <a:ea typeface="Calibri"/>
              <a:cs typeface="Calibri"/>
              <a:sym typeface="Calibri"/>
            </a:endParaRPr>
          </a:p>
        </p:txBody>
      </p:sp>
      <p:sp>
        <p:nvSpPr>
          <p:cNvPr id="98" name="Google Shape;98;h2994f3393d0b2db_0_5"/>
          <p:cNvSpPr/>
          <p:nvPr/>
        </p:nvSpPr>
        <p:spPr>
          <a:xfrm>
            <a:off x="1279025" y="8107667"/>
            <a:ext cx="128400" cy="97500"/>
          </a:xfrm>
          <a:prstGeom prst="ellipse">
            <a:avLst/>
          </a:prstGeom>
          <a:solidFill>
            <a:srgbClr val="8F74DC"/>
          </a:solidFill>
          <a:ln>
            <a:noFill/>
          </a:ln>
          <a:effectLst>
            <a:outerShdw blurRad="53332" dist="30666" dir="5400000" rotWithShape="0">
              <a:srgbClr val="000000">
                <a:alpha val="34900"/>
              </a:srgbClr>
            </a:outerShdw>
          </a:effectLst>
        </p:spPr>
        <p:txBody>
          <a:bodyPr spcFirstLastPara="1" wrap="square" lIns="121900" tIns="60925" rIns="121900" bIns="60925" anchor="ctr" anchorCtr="0">
            <a:noAutofit/>
          </a:bodyPr>
          <a:lstStyle/>
          <a:p>
            <a:pPr marL="0" marR="0" lvl="0" indent="0" algn="ctr" rtl="0">
              <a:spcBef>
                <a:spcPts val="0"/>
              </a:spcBef>
              <a:spcAft>
                <a:spcPts val="0"/>
              </a:spcAft>
              <a:buNone/>
            </a:pPr>
            <a:endParaRPr sz="4100" b="0" i="0" u="none" strike="noStrike" cap="none">
              <a:solidFill>
                <a:srgbClr val="000000"/>
              </a:solidFill>
              <a:latin typeface="Calibri"/>
              <a:ea typeface="Calibri"/>
              <a:cs typeface="Calibri"/>
              <a:sym typeface="Calibri"/>
            </a:endParaRPr>
          </a:p>
        </p:txBody>
      </p:sp>
      <p:sp>
        <p:nvSpPr>
          <p:cNvPr id="99" name="Google Shape;99;h2994f3393d0b2db_0_5"/>
          <p:cNvSpPr/>
          <p:nvPr/>
        </p:nvSpPr>
        <p:spPr>
          <a:xfrm>
            <a:off x="1632091" y="8107667"/>
            <a:ext cx="128400" cy="97500"/>
          </a:xfrm>
          <a:prstGeom prst="ellipse">
            <a:avLst/>
          </a:prstGeom>
          <a:solidFill>
            <a:srgbClr val="4865E0"/>
          </a:solidFill>
          <a:ln>
            <a:noFill/>
          </a:ln>
          <a:effectLst>
            <a:outerShdw blurRad="53332" dist="30666" dir="5400000" rotWithShape="0">
              <a:srgbClr val="000000">
                <a:alpha val="34900"/>
              </a:srgbClr>
            </a:outerShdw>
          </a:effectLst>
        </p:spPr>
        <p:txBody>
          <a:bodyPr spcFirstLastPara="1" wrap="square" lIns="121900" tIns="60925" rIns="121900" bIns="60925" anchor="ctr" anchorCtr="0">
            <a:noAutofit/>
          </a:bodyPr>
          <a:lstStyle/>
          <a:p>
            <a:pPr marL="0" marR="0" lvl="0" indent="0" algn="ctr" rtl="0">
              <a:spcBef>
                <a:spcPts val="0"/>
              </a:spcBef>
              <a:spcAft>
                <a:spcPts val="0"/>
              </a:spcAft>
              <a:buNone/>
            </a:pPr>
            <a:endParaRPr sz="4100" b="0" i="0" u="none" strike="noStrike" cap="none">
              <a:solidFill>
                <a:srgbClr val="000000"/>
              </a:solidFill>
              <a:latin typeface="Calibri"/>
              <a:ea typeface="Calibri"/>
              <a:cs typeface="Calibri"/>
              <a:sym typeface="Calibri"/>
            </a:endParaRPr>
          </a:p>
        </p:txBody>
      </p:sp>
      <p:sp>
        <p:nvSpPr>
          <p:cNvPr id="100" name="Google Shape;100;h2994f3393d0b2db_0_5"/>
          <p:cNvSpPr/>
          <p:nvPr/>
        </p:nvSpPr>
        <p:spPr>
          <a:xfrm>
            <a:off x="916449" y="4947767"/>
            <a:ext cx="853500" cy="60900"/>
          </a:xfrm>
          <a:prstGeom prst="rect">
            <a:avLst/>
          </a:prstGeom>
          <a:solidFill>
            <a:srgbClr val="427D52"/>
          </a:solidFill>
          <a:ln>
            <a:noFill/>
          </a:ln>
          <a:effectLst>
            <a:outerShdw blurRad="53332" dist="30666" dir="5400000" rotWithShape="0">
              <a:srgbClr val="000000">
                <a:alpha val="34900"/>
              </a:srgbClr>
            </a:outerShdw>
          </a:effectLst>
        </p:spPr>
        <p:txBody>
          <a:bodyPr spcFirstLastPara="1" wrap="square" lIns="121900" tIns="60925" rIns="121900" bIns="60925" anchor="ctr" anchorCtr="0">
            <a:noAutofit/>
          </a:bodyPr>
          <a:lstStyle/>
          <a:p>
            <a:pPr marL="0" marR="0" lvl="0" indent="0" algn="ctr" rtl="0">
              <a:spcBef>
                <a:spcPts val="0"/>
              </a:spcBef>
              <a:spcAft>
                <a:spcPts val="0"/>
              </a:spcAft>
              <a:buNone/>
            </a:pPr>
            <a:endParaRPr sz="2400" b="0" i="0" u="none" strike="noStrike" cap="none">
              <a:solidFill>
                <a:srgbClr val="000000"/>
              </a:solidFill>
              <a:latin typeface="Calibri"/>
              <a:ea typeface="Calibri"/>
              <a:cs typeface="Calibri"/>
              <a:sym typeface="Calibri"/>
            </a:endParaRPr>
          </a:p>
        </p:txBody>
      </p:sp>
      <p:pic>
        <p:nvPicPr>
          <p:cNvPr id="101" name="Google Shape;101;h2994f3393d0b2db_0_5" descr="ucalgary_logo_intro_clean.png"/>
          <p:cNvPicPr preferRelativeResize="0"/>
          <p:nvPr/>
        </p:nvPicPr>
        <p:blipFill rotWithShape="1">
          <a:blip r:embed="rId4">
            <a:alphaModFix/>
          </a:blip>
          <a:srcRect/>
          <a:stretch/>
        </p:blipFill>
        <p:spPr>
          <a:xfrm>
            <a:off x="0" y="0"/>
            <a:ext cx="1163663" cy="7848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h2994f3393d0b2db_0_0"/>
          <p:cNvSpPr txBox="1">
            <a:spLocks noGrp="1"/>
          </p:cNvSpPr>
          <p:nvPr>
            <p:ph type="title"/>
          </p:nvPr>
        </p:nvSpPr>
        <p:spPr>
          <a:xfrm>
            <a:off x="457200" y="274638"/>
            <a:ext cx="8229600" cy="11430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endParaRPr/>
          </a:p>
        </p:txBody>
      </p:sp>
      <p:sp>
        <p:nvSpPr>
          <p:cNvPr id="107" name="Google Shape;107;h2994f3393d0b2db_0_0"/>
          <p:cNvSpPr txBox="1">
            <a:spLocks noGrp="1"/>
          </p:cNvSpPr>
          <p:nvPr>
            <p:ph type="body" idx="1"/>
          </p:nvPr>
        </p:nvSpPr>
        <p:spPr>
          <a:xfrm>
            <a:off x="457200" y="1600200"/>
            <a:ext cx="8229600" cy="4526100"/>
          </a:xfrm>
          <a:prstGeom prst="rect">
            <a:avLst/>
          </a:prstGeom>
        </p:spPr>
        <p:txBody>
          <a:bodyPr spcFirstLastPara="1" wrap="square" lIns="91425" tIns="45700" rIns="91425" bIns="45700" anchor="t" anchorCtr="0">
            <a:normAutofit/>
          </a:bodyPr>
          <a:lstStyle/>
          <a:p>
            <a:pPr marL="0" lvl="0" indent="0" algn="l" rtl="0">
              <a:spcBef>
                <a:spcPts val="360"/>
              </a:spcBef>
              <a:spcAft>
                <a:spcPts val="0"/>
              </a:spcAft>
              <a:buNone/>
            </a:pPr>
            <a:endParaRPr/>
          </a:p>
        </p:txBody>
      </p:sp>
      <p:sp>
        <p:nvSpPr>
          <p:cNvPr id="108" name="Google Shape;108;h2994f3393d0b2db_0_0"/>
          <p:cNvSpPr/>
          <p:nvPr/>
        </p:nvSpPr>
        <p:spPr>
          <a:xfrm>
            <a:off x="0" y="0"/>
            <a:ext cx="12191700" cy="6858000"/>
          </a:xfrm>
          <a:prstGeom prst="rect">
            <a:avLst/>
          </a:prstGeom>
          <a:solidFill>
            <a:srgbClr val="FBFAF7"/>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109" name="Google Shape;109;h2994f3393d0b2db_0_0"/>
          <p:cNvSpPr txBox="1"/>
          <p:nvPr/>
        </p:nvSpPr>
        <p:spPr>
          <a:xfrm>
            <a:off x="960120" y="750407"/>
            <a:ext cx="95097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94366"/>
                </a:solidFill>
                <a:latin typeface="Play"/>
                <a:ea typeface="Play"/>
                <a:cs typeface="Play"/>
                <a:sym typeface="Play"/>
              </a:rPr>
              <a:t>Why Energy Matters for Economic Development</a:t>
            </a:r>
            <a:endParaRPr sz="3200"/>
          </a:p>
        </p:txBody>
      </p:sp>
      <p:sp>
        <p:nvSpPr>
          <p:cNvPr id="110" name="Google Shape;110;h2994f3393d0b2db_0_0"/>
          <p:cNvSpPr txBox="1"/>
          <p:nvPr/>
        </p:nvSpPr>
        <p:spPr>
          <a:xfrm>
            <a:off x="960120" y="1298448"/>
            <a:ext cx="8778300" cy="292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b="0" i="0" u="none" strike="noStrike" cap="none">
                <a:solidFill>
                  <a:srgbClr val="3E4850"/>
                </a:solidFill>
                <a:latin typeface="Arial"/>
                <a:ea typeface="Arial"/>
                <a:cs typeface="Arial"/>
                <a:sym typeface="Arial"/>
              </a:rPr>
              <a:t>Energy conditions can shape productivity, costs and the way economies develop over time.</a:t>
            </a:r>
            <a:endParaRPr/>
          </a:p>
        </p:txBody>
      </p:sp>
      <p:sp>
        <p:nvSpPr>
          <p:cNvPr id="111" name="Google Shape;111;h2994f3393d0b2db_0_0"/>
          <p:cNvSpPr/>
          <p:nvPr/>
        </p:nvSpPr>
        <p:spPr>
          <a:xfrm>
            <a:off x="960120" y="1783080"/>
            <a:ext cx="567000" cy="41100"/>
          </a:xfrm>
          <a:prstGeom prst="rect">
            <a:avLst/>
          </a:prstGeom>
          <a:solidFill>
            <a:srgbClr val="437E54"/>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112" name="Google Shape;112;h2994f3393d0b2db_0_0"/>
          <p:cNvSpPr/>
          <p:nvPr/>
        </p:nvSpPr>
        <p:spPr>
          <a:xfrm>
            <a:off x="960120" y="2148840"/>
            <a:ext cx="2926200" cy="1508700"/>
          </a:xfrm>
          <a:prstGeom prst="roundRect">
            <a:avLst>
              <a:gd name="adj" fmla="val 16667"/>
            </a:avLst>
          </a:prstGeom>
          <a:solidFill>
            <a:srgbClr val="EFF6F0"/>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113" name="Google Shape;113;h2994f3393d0b2db_0_0"/>
          <p:cNvSpPr txBox="1"/>
          <p:nvPr/>
        </p:nvSpPr>
        <p:spPr>
          <a:xfrm>
            <a:off x="1161288" y="2350008"/>
            <a:ext cx="2523600" cy="300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50" b="1" i="0" u="none" strike="noStrike" cap="none">
                <a:solidFill>
                  <a:srgbClr val="437E54"/>
                </a:solidFill>
                <a:latin typeface="Arial"/>
                <a:ea typeface="Arial"/>
                <a:cs typeface="Arial"/>
                <a:sym typeface="Arial"/>
              </a:rPr>
              <a:t>01  RELIABLE ENERGY</a:t>
            </a:r>
            <a:endParaRPr sz="1800"/>
          </a:p>
        </p:txBody>
      </p:sp>
      <p:sp>
        <p:nvSpPr>
          <p:cNvPr id="114" name="Google Shape;114;h2994f3393d0b2db_0_0"/>
          <p:cNvSpPr txBox="1"/>
          <p:nvPr/>
        </p:nvSpPr>
        <p:spPr>
          <a:xfrm>
            <a:off x="1156738" y="2732300"/>
            <a:ext cx="2523600" cy="831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u="none" strike="noStrike" cap="none">
                <a:solidFill>
                  <a:srgbClr val="3E4850"/>
                </a:solidFill>
                <a:latin typeface="Arial"/>
                <a:ea typeface="Arial"/>
                <a:cs typeface="Arial"/>
                <a:sym typeface="Arial"/>
              </a:rPr>
              <a:t>Supports daily activity, production and transportation. Unreliable supply can reduce productivity and increase business costs.</a:t>
            </a:r>
            <a:endParaRPr sz="1200"/>
          </a:p>
        </p:txBody>
      </p:sp>
      <p:sp>
        <p:nvSpPr>
          <p:cNvPr id="115" name="Google Shape;115;h2994f3393d0b2db_0_0"/>
          <p:cNvSpPr/>
          <p:nvPr/>
        </p:nvSpPr>
        <p:spPr>
          <a:xfrm>
            <a:off x="4617720" y="2148840"/>
            <a:ext cx="2926200" cy="1508700"/>
          </a:xfrm>
          <a:prstGeom prst="roundRect">
            <a:avLst>
              <a:gd name="adj" fmla="val 16667"/>
            </a:avLst>
          </a:prstGeom>
          <a:solidFill>
            <a:srgbClr val="F1F6F9"/>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116" name="Google Shape;116;h2994f3393d0b2db_0_0"/>
          <p:cNvSpPr txBox="1"/>
          <p:nvPr/>
        </p:nvSpPr>
        <p:spPr>
          <a:xfrm>
            <a:off x="4818888" y="2350008"/>
            <a:ext cx="2523600" cy="300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50" b="1" i="0" u="none" strike="noStrike" cap="none">
                <a:solidFill>
                  <a:srgbClr val="194366"/>
                </a:solidFill>
                <a:latin typeface="Arial"/>
                <a:ea typeface="Arial"/>
                <a:cs typeface="Arial"/>
                <a:sym typeface="Arial"/>
              </a:rPr>
              <a:t>02  CURRENT CONCERNS</a:t>
            </a:r>
            <a:endParaRPr sz="1800"/>
          </a:p>
        </p:txBody>
      </p:sp>
      <p:sp>
        <p:nvSpPr>
          <p:cNvPr id="117" name="Google Shape;117;h2994f3393d0b2db_0_0"/>
          <p:cNvSpPr txBox="1"/>
          <p:nvPr/>
        </p:nvSpPr>
        <p:spPr>
          <a:xfrm>
            <a:off x="4814338" y="2732300"/>
            <a:ext cx="2523600" cy="831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u="none" strike="noStrike" cap="none">
                <a:solidFill>
                  <a:srgbClr val="3E4850"/>
                </a:solidFill>
                <a:latin typeface="Arial"/>
                <a:ea typeface="Arial"/>
                <a:cs typeface="Arial"/>
                <a:sym typeface="Arial"/>
              </a:rPr>
              <a:t>Energy supply, energy security and rising costs can extend into inflation, financial markets and wider economic conditions.</a:t>
            </a:r>
            <a:endParaRPr sz="1200"/>
          </a:p>
        </p:txBody>
      </p:sp>
      <p:sp>
        <p:nvSpPr>
          <p:cNvPr id="118" name="Google Shape;118;h2994f3393d0b2db_0_0"/>
          <p:cNvSpPr/>
          <p:nvPr/>
        </p:nvSpPr>
        <p:spPr>
          <a:xfrm>
            <a:off x="8275320" y="2148840"/>
            <a:ext cx="2926200" cy="1508700"/>
          </a:xfrm>
          <a:prstGeom prst="roundRect">
            <a:avLst>
              <a:gd name="adj" fmla="val 16667"/>
            </a:avLst>
          </a:prstGeom>
          <a:solidFill>
            <a:srgbClr val="EFF6F0"/>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119" name="Google Shape;119;h2994f3393d0b2db_0_0"/>
          <p:cNvSpPr txBox="1"/>
          <p:nvPr/>
        </p:nvSpPr>
        <p:spPr>
          <a:xfrm>
            <a:off x="8476488" y="2350008"/>
            <a:ext cx="2523600" cy="300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50" b="1" i="0" u="none" strike="noStrike" cap="none">
                <a:solidFill>
                  <a:srgbClr val="437E54"/>
                </a:solidFill>
                <a:latin typeface="Arial"/>
                <a:ea typeface="Arial"/>
                <a:cs typeface="Arial"/>
                <a:sym typeface="Arial"/>
              </a:rPr>
              <a:t>03  CHANGING PATTERNS</a:t>
            </a:r>
            <a:endParaRPr sz="1800"/>
          </a:p>
        </p:txBody>
      </p:sp>
      <p:sp>
        <p:nvSpPr>
          <p:cNvPr id="120" name="Google Shape;120;h2994f3393d0b2db_0_0"/>
          <p:cNvSpPr txBox="1"/>
          <p:nvPr/>
        </p:nvSpPr>
        <p:spPr>
          <a:xfrm>
            <a:off x="8471938" y="2732300"/>
            <a:ext cx="2523600" cy="831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0" i="0" u="none" strike="noStrike" cap="none">
                <a:solidFill>
                  <a:srgbClr val="3E4850"/>
                </a:solidFill>
                <a:latin typeface="Arial"/>
                <a:ea typeface="Arial"/>
                <a:cs typeface="Arial"/>
                <a:sym typeface="Arial"/>
              </a:rPr>
              <a:t>Energy use is not constant. Countries at different stages of development may follow different energy-consumption paths.</a:t>
            </a:r>
            <a:endParaRPr sz="1200"/>
          </a:p>
        </p:txBody>
      </p:sp>
      <p:cxnSp>
        <p:nvCxnSpPr>
          <p:cNvPr id="121" name="Google Shape;121;h2994f3393d0b2db_0_0"/>
          <p:cNvCxnSpPr/>
          <p:nvPr/>
        </p:nvCxnSpPr>
        <p:spPr>
          <a:xfrm>
            <a:off x="4005072" y="2907792"/>
            <a:ext cx="365700" cy="0"/>
          </a:xfrm>
          <a:prstGeom prst="straightConnector1">
            <a:avLst/>
          </a:prstGeom>
          <a:noFill/>
          <a:ln w="21575" cap="flat" cmpd="sng">
            <a:solidFill>
              <a:srgbClr val="DEB758"/>
            </a:solidFill>
            <a:prstDash val="solid"/>
            <a:round/>
            <a:headEnd type="none" w="sm" len="sm"/>
            <a:tailEnd type="none" w="sm" len="sm"/>
          </a:ln>
          <a:effectLst>
            <a:outerShdw blurRad="40000" dist="20000" dir="5400000" rotWithShape="0">
              <a:srgbClr val="000000">
                <a:alpha val="38040"/>
              </a:srgbClr>
            </a:outerShdw>
          </a:effectLst>
        </p:spPr>
      </p:cxnSp>
      <p:cxnSp>
        <p:nvCxnSpPr>
          <p:cNvPr id="122" name="Google Shape;122;h2994f3393d0b2db_0_0"/>
          <p:cNvCxnSpPr/>
          <p:nvPr/>
        </p:nvCxnSpPr>
        <p:spPr>
          <a:xfrm>
            <a:off x="7662672" y="2907792"/>
            <a:ext cx="365700" cy="0"/>
          </a:xfrm>
          <a:prstGeom prst="straightConnector1">
            <a:avLst/>
          </a:prstGeom>
          <a:noFill/>
          <a:ln w="21575" cap="flat" cmpd="sng">
            <a:solidFill>
              <a:srgbClr val="DEB758"/>
            </a:solidFill>
            <a:prstDash val="solid"/>
            <a:round/>
            <a:headEnd type="none" w="sm" len="sm"/>
            <a:tailEnd type="none" w="sm" len="sm"/>
          </a:ln>
          <a:effectLst>
            <a:outerShdw blurRad="40000" dist="20000" dir="5400000" rotWithShape="0">
              <a:srgbClr val="000000">
                <a:alpha val="38040"/>
              </a:srgbClr>
            </a:outerShdw>
          </a:effectLst>
        </p:spPr>
      </p:cxnSp>
      <p:sp>
        <p:nvSpPr>
          <p:cNvPr id="123" name="Google Shape;123;h2994f3393d0b2db_0_0"/>
          <p:cNvSpPr txBox="1"/>
          <p:nvPr/>
        </p:nvSpPr>
        <p:spPr>
          <a:xfrm>
            <a:off x="960120" y="4160520"/>
            <a:ext cx="3108900" cy="276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i="0" u="none" strike="noStrike" cap="none">
                <a:solidFill>
                  <a:srgbClr val="437E54"/>
                </a:solidFill>
                <a:latin typeface="Arial"/>
                <a:ea typeface="Arial"/>
                <a:cs typeface="Arial"/>
                <a:sym typeface="Arial"/>
              </a:rPr>
              <a:t>WHY UNDERSTANDING THIS MATTERS</a:t>
            </a:r>
            <a:endParaRPr sz="1700"/>
          </a:p>
        </p:txBody>
      </p:sp>
      <p:sp>
        <p:nvSpPr>
          <p:cNvPr id="124" name="Google Shape;124;h2994f3393d0b2db_0_0"/>
          <p:cNvSpPr txBox="1"/>
          <p:nvPr/>
        </p:nvSpPr>
        <p:spPr>
          <a:xfrm>
            <a:off x="960120" y="4526280"/>
            <a:ext cx="3337500" cy="1200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u="none" strike="noStrike" cap="none">
                <a:solidFill>
                  <a:srgbClr val="194366"/>
                </a:solidFill>
                <a:latin typeface="Arial"/>
                <a:ea typeface="Arial"/>
                <a:cs typeface="Arial"/>
                <a:sym typeface="Arial"/>
              </a:rPr>
              <a:t>Understanding energy-use patterns can support better long-term economic and energy decisions.</a:t>
            </a:r>
            <a:endParaRPr sz="1700"/>
          </a:p>
        </p:txBody>
      </p:sp>
      <p:sp>
        <p:nvSpPr>
          <p:cNvPr id="125" name="Google Shape;125;h2994f3393d0b2db_0_0"/>
          <p:cNvSpPr/>
          <p:nvPr/>
        </p:nvSpPr>
        <p:spPr>
          <a:xfrm>
            <a:off x="4709160" y="4197096"/>
            <a:ext cx="164700" cy="164700"/>
          </a:xfrm>
          <a:prstGeom prst="ellipse">
            <a:avLst/>
          </a:prstGeom>
          <a:solidFill>
            <a:srgbClr val="437E54"/>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126" name="Google Shape;126;h2994f3393d0b2db_0_0"/>
          <p:cNvSpPr txBox="1"/>
          <p:nvPr/>
        </p:nvSpPr>
        <p:spPr>
          <a:xfrm>
            <a:off x="5001768" y="4160520"/>
            <a:ext cx="2651700" cy="300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50" b="1" i="0" u="none" strike="noStrike" cap="none">
                <a:solidFill>
                  <a:srgbClr val="194366"/>
                </a:solidFill>
                <a:latin typeface="Arial"/>
                <a:ea typeface="Arial"/>
                <a:cs typeface="Arial"/>
                <a:sym typeface="Arial"/>
              </a:rPr>
              <a:t>Energy &amp; infrastructure</a:t>
            </a:r>
            <a:endParaRPr sz="1600"/>
          </a:p>
        </p:txBody>
      </p:sp>
      <p:sp>
        <p:nvSpPr>
          <p:cNvPr id="127" name="Google Shape;127;h2994f3393d0b2db_0_0"/>
          <p:cNvSpPr txBox="1"/>
          <p:nvPr/>
        </p:nvSpPr>
        <p:spPr>
          <a:xfrm>
            <a:off x="5001768" y="4471416"/>
            <a:ext cx="2651700" cy="284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50" b="0" i="0" u="none" strike="noStrike" cap="none">
                <a:solidFill>
                  <a:srgbClr val="3E4850"/>
                </a:solidFill>
                <a:latin typeface="Arial"/>
                <a:ea typeface="Arial"/>
                <a:cs typeface="Arial"/>
                <a:sym typeface="Arial"/>
              </a:rPr>
              <a:t>Plan for changing energy needs.</a:t>
            </a:r>
            <a:endParaRPr sz="1600"/>
          </a:p>
        </p:txBody>
      </p:sp>
      <p:sp>
        <p:nvSpPr>
          <p:cNvPr id="128" name="Google Shape;128;h2994f3393d0b2db_0_0"/>
          <p:cNvSpPr/>
          <p:nvPr/>
        </p:nvSpPr>
        <p:spPr>
          <a:xfrm>
            <a:off x="7909560" y="4197096"/>
            <a:ext cx="164700" cy="164700"/>
          </a:xfrm>
          <a:prstGeom prst="ellipse">
            <a:avLst/>
          </a:prstGeom>
          <a:solidFill>
            <a:srgbClr val="437E54"/>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129" name="Google Shape;129;h2994f3393d0b2db_0_0"/>
          <p:cNvSpPr txBox="1"/>
          <p:nvPr/>
        </p:nvSpPr>
        <p:spPr>
          <a:xfrm>
            <a:off x="8202168" y="4160520"/>
            <a:ext cx="2651700" cy="300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50" b="1" i="0" u="none" strike="noStrike" cap="none">
                <a:solidFill>
                  <a:srgbClr val="194366"/>
                </a:solidFill>
                <a:latin typeface="Arial"/>
                <a:ea typeface="Arial"/>
                <a:cs typeface="Arial"/>
                <a:sym typeface="Arial"/>
              </a:rPr>
              <a:t>Economic planning</a:t>
            </a:r>
            <a:endParaRPr sz="1600"/>
          </a:p>
        </p:txBody>
      </p:sp>
      <p:sp>
        <p:nvSpPr>
          <p:cNvPr id="130" name="Google Shape;130;h2994f3393d0b2db_0_0"/>
          <p:cNvSpPr txBox="1"/>
          <p:nvPr/>
        </p:nvSpPr>
        <p:spPr>
          <a:xfrm>
            <a:off x="8202168" y="4471416"/>
            <a:ext cx="2651700" cy="477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50" b="0" i="0" u="none" strike="noStrike" cap="none">
                <a:solidFill>
                  <a:srgbClr val="3E4850"/>
                </a:solidFill>
                <a:latin typeface="Arial"/>
                <a:ea typeface="Arial"/>
                <a:cs typeface="Arial"/>
                <a:sym typeface="Arial"/>
              </a:rPr>
              <a:t>Understand energy–development patterns.</a:t>
            </a:r>
            <a:endParaRPr sz="1600"/>
          </a:p>
        </p:txBody>
      </p:sp>
      <p:sp>
        <p:nvSpPr>
          <p:cNvPr id="131" name="Google Shape;131;h2994f3393d0b2db_0_0"/>
          <p:cNvSpPr/>
          <p:nvPr/>
        </p:nvSpPr>
        <p:spPr>
          <a:xfrm>
            <a:off x="4709160" y="5202936"/>
            <a:ext cx="164700" cy="164700"/>
          </a:xfrm>
          <a:prstGeom prst="ellipse">
            <a:avLst/>
          </a:prstGeom>
          <a:solidFill>
            <a:srgbClr val="437E54"/>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132" name="Google Shape;132;h2994f3393d0b2db_0_0"/>
          <p:cNvSpPr txBox="1"/>
          <p:nvPr/>
        </p:nvSpPr>
        <p:spPr>
          <a:xfrm>
            <a:off x="5001768" y="5166360"/>
            <a:ext cx="2651700" cy="300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50" b="1" i="0" u="none" strike="noStrike" cap="none">
                <a:solidFill>
                  <a:srgbClr val="194366"/>
                </a:solidFill>
                <a:latin typeface="Arial"/>
                <a:ea typeface="Arial"/>
                <a:cs typeface="Arial"/>
                <a:sym typeface="Arial"/>
              </a:rPr>
              <a:t>Investment decisions</a:t>
            </a:r>
            <a:endParaRPr sz="1600"/>
          </a:p>
        </p:txBody>
      </p:sp>
      <p:sp>
        <p:nvSpPr>
          <p:cNvPr id="133" name="Google Shape;133;h2994f3393d0b2db_0_0"/>
          <p:cNvSpPr txBox="1"/>
          <p:nvPr/>
        </p:nvSpPr>
        <p:spPr>
          <a:xfrm>
            <a:off x="5001768" y="5477256"/>
            <a:ext cx="2651700" cy="284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50" b="0" i="0" u="none" strike="noStrike" cap="none">
                <a:solidFill>
                  <a:srgbClr val="3E4850"/>
                </a:solidFill>
                <a:latin typeface="Arial"/>
                <a:ea typeface="Arial"/>
                <a:cs typeface="Arial"/>
                <a:sym typeface="Arial"/>
              </a:rPr>
              <a:t>Inform resource allocation.</a:t>
            </a:r>
            <a:endParaRPr sz="1600"/>
          </a:p>
        </p:txBody>
      </p:sp>
      <p:sp>
        <p:nvSpPr>
          <p:cNvPr id="134" name="Google Shape;134;h2994f3393d0b2db_0_0"/>
          <p:cNvSpPr/>
          <p:nvPr/>
        </p:nvSpPr>
        <p:spPr>
          <a:xfrm>
            <a:off x="7909560" y="5202936"/>
            <a:ext cx="164700" cy="164700"/>
          </a:xfrm>
          <a:prstGeom prst="ellipse">
            <a:avLst/>
          </a:prstGeom>
          <a:solidFill>
            <a:srgbClr val="437E54"/>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135" name="Google Shape;135;h2994f3393d0b2db_0_0"/>
          <p:cNvSpPr txBox="1"/>
          <p:nvPr/>
        </p:nvSpPr>
        <p:spPr>
          <a:xfrm>
            <a:off x="8202168" y="5166360"/>
            <a:ext cx="2651700" cy="300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50" b="1" i="0" u="none" strike="noStrike" cap="none">
                <a:solidFill>
                  <a:srgbClr val="194366"/>
                </a:solidFill>
                <a:latin typeface="Arial"/>
                <a:ea typeface="Arial"/>
                <a:cs typeface="Arial"/>
                <a:sym typeface="Arial"/>
              </a:rPr>
              <a:t>Environmental policy</a:t>
            </a:r>
            <a:endParaRPr sz="1600"/>
          </a:p>
        </p:txBody>
      </p:sp>
      <p:sp>
        <p:nvSpPr>
          <p:cNvPr id="136" name="Google Shape;136;h2994f3393d0b2db_0_0"/>
          <p:cNvSpPr txBox="1"/>
          <p:nvPr/>
        </p:nvSpPr>
        <p:spPr>
          <a:xfrm>
            <a:off x="8202168" y="5477256"/>
            <a:ext cx="2651700" cy="477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50" b="0" i="0" u="none" strike="noStrike" cap="none">
                <a:solidFill>
                  <a:srgbClr val="3E4850"/>
                </a:solidFill>
                <a:latin typeface="Arial"/>
                <a:ea typeface="Arial"/>
                <a:cs typeface="Arial"/>
                <a:sym typeface="Arial"/>
              </a:rPr>
              <a:t>Consider growth, energy use and emissions.</a:t>
            </a:r>
            <a:endParaRPr sz="1600"/>
          </a:p>
        </p:txBody>
      </p:sp>
      <p:sp>
        <p:nvSpPr>
          <p:cNvPr id="137" name="Google Shape;137;h2994f3393d0b2db_0_0"/>
          <p:cNvSpPr/>
          <p:nvPr/>
        </p:nvSpPr>
        <p:spPr>
          <a:xfrm>
            <a:off x="2331720" y="6144768"/>
            <a:ext cx="7498200" cy="384000"/>
          </a:xfrm>
          <a:prstGeom prst="roundRect">
            <a:avLst>
              <a:gd name="adj" fmla="val 16667"/>
            </a:avLst>
          </a:prstGeom>
          <a:solidFill>
            <a:srgbClr val="F1F6F9"/>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138" name="Google Shape;138;h2994f3393d0b2db_0_0"/>
          <p:cNvSpPr txBox="1"/>
          <p:nvPr/>
        </p:nvSpPr>
        <p:spPr>
          <a:xfrm>
            <a:off x="2578608" y="6236208"/>
            <a:ext cx="6995100" cy="284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50" b="1" i="0" u="none" strike="noStrike" cap="none">
                <a:solidFill>
                  <a:srgbClr val="194366"/>
                </a:solidFill>
                <a:latin typeface="Arial"/>
                <a:ea typeface="Arial"/>
                <a:cs typeface="Arial"/>
                <a:sym typeface="Arial"/>
              </a:rPr>
              <a:t>These connections motivate a closer statistical look at energy use across countries.</a:t>
            </a:r>
            <a:endParaRPr sz="1600"/>
          </a:p>
        </p:txBody>
      </p:sp>
      <p:sp>
        <p:nvSpPr>
          <p:cNvPr id="139" name="Google Shape;139;h2994f3393d0b2db_0_0"/>
          <p:cNvSpPr txBox="1"/>
          <p:nvPr/>
        </p:nvSpPr>
        <p:spPr>
          <a:xfrm>
            <a:off x="11729445" y="6528777"/>
            <a:ext cx="320100" cy="2769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200" b="1">
                <a:solidFill>
                  <a:srgbClr val="184168"/>
                </a:solidFill>
              </a:rPr>
              <a:t>2</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h2994f3393d0b2db_0_104"/>
          <p:cNvSpPr txBox="1">
            <a:spLocks noGrp="1"/>
          </p:cNvSpPr>
          <p:nvPr>
            <p:ph type="title"/>
          </p:nvPr>
        </p:nvSpPr>
        <p:spPr>
          <a:xfrm>
            <a:off x="457200" y="274638"/>
            <a:ext cx="8229600" cy="11430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endParaRPr/>
          </a:p>
        </p:txBody>
      </p:sp>
      <p:sp>
        <p:nvSpPr>
          <p:cNvPr id="145" name="Google Shape;145;h2994f3393d0b2db_0_104"/>
          <p:cNvSpPr txBox="1">
            <a:spLocks noGrp="1"/>
          </p:cNvSpPr>
          <p:nvPr>
            <p:ph type="body" idx="1"/>
          </p:nvPr>
        </p:nvSpPr>
        <p:spPr>
          <a:xfrm>
            <a:off x="457200" y="1600200"/>
            <a:ext cx="8229600" cy="4526100"/>
          </a:xfrm>
          <a:prstGeom prst="rect">
            <a:avLst/>
          </a:prstGeom>
        </p:spPr>
        <p:txBody>
          <a:bodyPr spcFirstLastPara="1" wrap="square" lIns="91425" tIns="45700" rIns="91425" bIns="45700" anchor="t" anchorCtr="0">
            <a:normAutofit/>
          </a:bodyPr>
          <a:lstStyle/>
          <a:p>
            <a:pPr marL="0" lvl="0" indent="0" algn="l" rtl="0">
              <a:spcBef>
                <a:spcPts val="360"/>
              </a:spcBef>
              <a:spcAft>
                <a:spcPts val="0"/>
              </a:spcAft>
              <a:buNone/>
            </a:pPr>
            <a:endParaRPr/>
          </a:p>
        </p:txBody>
      </p:sp>
      <p:sp>
        <p:nvSpPr>
          <p:cNvPr id="146" name="Google Shape;146;h2994f3393d0b2db_0_104"/>
          <p:cNvSpPr/>
          <p:nvPr/>
        </p:nvSpPr>
        <p:spPr>
          <a:xfrm>
            <a:off x="0" y="0"/>
            <a:ext cx="12191700" cy="6858000"/>
          </a:xfrm>
          <a:prstGeom prst="rect">
            <a:avLst/>
          </a:prstGeom>
          <a:solidFill>
            <a:srgbClr val="FBFAF7"/>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147" name="Google Shape;147;h2994f3393d0b2db_0_104"/>
          <p:cNvSpPr txBox="1"/>
          <p:nvPr/>
        </p:nvSpPr>
        <p:spPr>
          <a:xfrm>
            <a:off x="960120" y="758952"/>
            <a:ext cx="73152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84168"/>
                </a:solidFill>
                <a:latin typeface="Play"/>
                <a:ea typeface="Play"/>
                <a:cs typeface="Play"/>
                <a:sym typeface="Play"/>
              </a:rPr>
              <a:t>Our Research Questions</a:t>
            </a:r>
            <a:endParaRPr sz="2100"/>
          </a:p>
        </p:txBody>
      </p:sp>
      <p:sp>
        <p:nvSpPr>
          <p:cNvPr id="148" name="Google Shape;148;h2994f3393d0b2db_0_104"/>
          <p:cNvSpPr txBox="1"/>
          <p:nvPr/>
        </p:nvSpPr>
        <p:spPr>
          <a:xfrm>
            <a:off x="960120" y="1344168"/>
            <a:ext cx="8686800" cy="708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0" i="0" u="none" strike="noStrike" cap="none">
                <a:solidFill>
                  <a:srgbClr val="48525C"/>
                </a:solidFill>
                <a:latin typeface="Arial"/>
                <a:ea typeface="Arial"/>
                <a:cs typeface="Arial"/>
                <a:sym typeface="Arial"/>
              </a:rPr>
              <a:t>We focus on differences in energy-use change and the relationship between energy use and GDP.</a:t>
            </a:r>
            <a:endParaRPr sz="2100"/>
          </a:p>
        </p:txBody>
      </p:sp>
      <p:sp>
        <p:nvSpPr>
          <p:cNvPr id="149" name="Google Shape;149;h2994f3393d0b2db_0_104"/>
          <p:cNvSpPr/>
          <p:nvPr/>
        </p:nvSpPr>
        <p:spPr>
          <a:xfrm>
            <a:off x="1143000" y="2331720"/>
            <a:ext cx="4434900" cy="2971800"/>
          </a:xfrm>
          <a:prstGeom prst="roundRect">
            <a:avLst>
              <a:gd name="adj" fmla="val 16667"/>
            </a:avLst>
          </a:prstGeom>
          <a:solidFill>
            <a:srgbClr val="EEF4F8"/>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150" name="Google Shape;150;h2994f3393d0b2db_0_104"/>
          <p:cNvSpPr/>
          <p:nvPr/>
        </p:nvSpPr>
        <p:spPr>
          <a:xfrm>
            <a:off x="1417320" y="2624327"/>
            <a:ext cx="594300" cy="594300"/>
          </a:xfrm>
          <a:prstGeom prst="ellipse">
            <a:avLst/>
          </a:prstGeom>
          <a:solidFill>
            <a:srgbClr val="184168"/>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151" name="Google Shape;151;h2994f3393d0b2db_0_104"/>
          <p:cNvSpPr txBox="1"/>
          <p:nvPr/>
        </p:nvSpPr>
        <p:spPr>
          <a:xfrm>
            <a:off x="1417320" y="2798063"/>
            <a:ext cx="594300" cy="292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300" b="1" i="0" u="none" strike="noStrike" cap="none">
                <a:solidFill>
                  <a:srgbClr val="FFFFFF"/>
                </a:solidFill>
                <a:latin typeface="Arial"/>
                <a:ea typeface="Arial"/>
                <a:cs typeface="Arial"/>
                <a:sym typeface="Arial"/>
              </a:rPr>
              <a:t>RQ</a:t>
            </a:r>
            <a:r>
              <a:rPr lang="en-US" sz="1300" b="1">
                <a:solidFill>
                  <a:srgbClr val="FFFFFF"/>
                </a:solidFill>
              </a:rPr>
              <a:t>1</a:t>
            </a:r>
            <a:endParaRPr sz="1800"/>
          </a:p>
        </p:txBody>
      </p:sp>
      <p:sp>
        <p:nvSpPr>
          <p:cNvPr id="152" name="Google Shape;152;h2994f3393d0b2db_0_104"/>
          <p:cNvSpPr txBox="1"/>
          <p:nvPr/>
        </p:nvSpPr>
        <p:spPr>
          <a:xfrm>
            <a:off x="2240280" y="2679191"/>
            <a:ext cx="3063300" cy="392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950" b="1" i="0" u="none" strike="noStrike" cap="none">
                <a:solidFill>
                  <a:srgbClr val="184168"/>
                </a:solidFill>
                <a:latin typeface="Arial"/>
                <a:ea typeface="Arial"/>
                <a:cs typeface="Arial"/>
                <a:sym typeface="Arial"/>
              </a:rPr>
              <a:t>GROUP COMPARISON</a:t>
            </a:r>
            <a:endParaRPr sz="2400"/>
          </a:p>
        </p:txBody>
      </p:sp>
      <p:sp>
        <p:nvSpPr>
          <p:cNvPr id="153" name="Google Shape;153;h2994f3393d0b2db_0_104"/>
          <p:cNvSpPr txBox="1"/>
          <p:nvPr/>
        </p:nvSpPr>
        <p:spPr>
          <a:xfrm>
            <a:off x="1501015" y="3326057"/>
            <a:ext cx="3794700" cy="954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b="1" i="0" u="none" strike="noStrike" cap="none">
                <a:solidFill>
                  <a:srgbClr val="184168"/>
                </a:solidFill>
                <a:latin typeface="Arial"/>
                <a:ea typeface="Arial"/>
                <a:cs typeface="Arial"/>
                <a:sym typeface="Arial"/>
              </a:rPr>
              <a:t>Did the change in energy consumption per capita from 2010 to 2021 differ between countries with lower and higher initial levels of economic development?</a:t>
            </a:r>
            <a:endParaRPr sz="1500"/>
          </a:p>
        </p:txBody>
      </p:sp>
      <p:sp>
        <p:nvSpPr>
          <p:cNvPr id="154" name="Google Shape;154;h2994f3393d0b2db_0_104"/>
          <p:cNvSpPr txBox="1"/>
          <p:nvPr/>
        </p:nvSpPr>
        <p:spPr>
          <a:xfrm>
            <a:off x="1463040" y="4818888"/>
            <a:ext cx="3794700" cy="253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b="0" i="0" u="none" strike="noStrike" cap="none">
                <a:solidFill>
                  <a:srgbClr val="707A82"/>
                </a:solidFill>
                <a:latin typeface="Arial"/>
                <a:ea typeface="Arial"/>
                <a:cs typeface="Arial"/>
                <a:sym typeface="Arial"/>
              </a:rPr>
              <a:t>Welch t-test + permutation test</a:t>
            </a:r>
            <a:endParaRPr/>
          </a:p>
        </p:txBody>
      </p:sp>
      <p:sp>
        <p:nvSpPr>
          <p:cNvPr id="155" name="Google Shape;155;h2994f3393d0b2db_0_104"/>
          <p:cNvSpPr/>
          <p:nvPr/>
        </p:nvSpPr>
        <p:spPr>
          <a:xfrm>
            <a:off x="6537960" y="2331720"/>
            <a:ext cx="4434900" cy="2971800"/>
          </a:xfrm>
          <a:prstGeom prst="roundRect">
            <a:avLst>
              <a:gd name="adj" fmla="val 16667"/>
            </a:avLst>
          </a:prstGeom>
          <a:solidFill>
            <a:srgbClr val="EFF6F0"/>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156" name="Google Shape;156;h2994f3393d0b2db_0_104"/>
          <p:cNvSpPr/>
          <p:nvPr/>
        </p:nvSpPr>
        <p:spPr>
          <a:xfrm>
            <a:off x="6812280" y="2624327"/>
            <a:ext cx="594300" cy="594300"/>
          </a:xfrm>
          <a:prstGeom prst="ellipse">
            <a:avLst/>
          </a:prstGeom>
          <a:solidFill>
            <a:srgbClr val="427D52"/>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157" name="Google Shape;157;h2994f3393d0b2db_0_104"/>
          <p:cNvSpPr txBox="1"/>
          <p:nvPr/>
        </p:nvSpPr>
        <p:spPr>
          <a:xfrm>
            <a:off x="6812280" y="2798063"/>
            <a:ext cx="594300" cy="292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300" b="1" i="0" u="none" strike="noStrike" cap="none">
                <a:solidFill>
                  <a:srgbClr val="FFFFFF"/>
                </a:solidFill>
                <a:latin typeface="Arial"/>
                <a:ea typeface="Arial"/>
                <a:cs typeface="Arial"/>
                <a:sym typeface="Arial"/>
              </a:rPr>
              <a:t>R</a:t>
            </a:r>
            <a:r>
              <a:rPr lang="en-US" sz="1300" b="1">
                <a:solidFill>
                  <a:srgbClr val="FFFFFF"/>
                </a:solidFill>
              </a:rPr>
              <a:t>Q2</a:t>
            </a:r>
            <a:endParaRPr sz="1800"/>
          </a:p>
        </p:txBody>
      </p:sp>
      <p:sp>
        <p:nvSpPr>
          <p:cNvPr id="158" name="Google Shape;158;h2994f3393d0b2db_0_104"/>
          <p:cNvSpPr txBox="1"/>
          <p:nvPr/>
        </p:nvSpPr>
        <p:spPr>
          <a:xfrm>
            <a:off x="7635240" y="2679191"/>
            <a:ext cx="3063300" cy="392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950" b="1" i="0" u="none" strike="noStrike" cap="none">
                <a:solidFill>
                  <a:srgbClr val="427D52"/>
                </a:solidFill>
                <a:latin typeface="Arial"/>
                <a:ea typeface="Arial"/>
                <a:cs typeface="Arial"/>
                <a:sym typeface="Arial"/>
              </a:rPr>
              <a:t>ENERGY &amp; GDP</a:t>
            </a:r>
            <a:endParaRPr sz="2400"/>
          </a:p>
        </p:txBody>
      </p:sp>
      <p:sp>
        <p:nvSpPr>
          <p:cNvPr id="159" name="Google Shape;159;h2994f3393d0b2db_0_104"/>
          <p:cNvSpPr txBox="1"/>
          <p:nvPr/>
        </p:nvSpPr>
        <p:spPr>
          <a:xfrm>
            <a:off x="6895975" y="3326057"/>
            <a:ext cx="3794700" cy="1385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b="1" i="0" u="none" strike="noStrike" cap="none">
                <a:solidFill>
                  <a:srgbClr val="184168"/>
                </a:solidFill>
                <a:latin typeface="Arial"/>
                <a:ea typeface="Arial"/>
                <a:cs typeface="Arial"/>
                <a:sym typeface="Arial"/>
              </a:rPr>
              <a:t>What is the relationship between energy consumption per capita and GDP per capita across countries in 2021, and how much of the variation in GDP per capita is explained by differences in energy consumption per capita?</a:t>
            </a:r>
            <a:endParaRPr sz="1500"/>
          </a:p>
        </p:txBody>
      </p:sp>
      <p:sp>
        <p:nvSpPr>
          <p:cNvPr id="160" name="Google Shape;160;h2994f3393d0b2db_0_104"/>
          <p:cNvSpPr txBox="1"/>
          <p:nvPr/>
        </p:nvSpPr>
        <p:spPr>
          <a:xfrm>
            <a:off x="6858000" y="4818888"/>
            <a:ext cx="3794700" cy="253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b="0" i="0" u="none" strike="noStrike" cap="none">
                <a:solidFill>
                  <a:srgbClr val="707A82"/>
                </a:solidFill>
                <a:latin typeface="Arial"/>
                <a:ea typeface="Arial"/>
                <a:cs typeface="Arial"/>
                <a:sym typeface="Arial"/>
              </a:rPr>
              <a:t>Simple linear regression</a:t>
            </a:r>
            <a:endParaRPr/>
          </a:p>
        </p:txBody>
      </p:sp>
      <p:cxnSp>
        <p:nvCxnSpPr>
          <p:cNvPr id="161" name="Google Shape;161;h2994f3393d0b2db_0_104"/>
          <p:cNvCxnSpPr/>
          <p:nvPr/>
        </p:nvCxnSpPr>
        <p:spPr>
          <a:xfrm>
            <a:off x="5715000" y="3813048"/>
            <a:ext cx="685800" cy="0"/>
          </a:xfrm>
          <a:prstGeom prst="straightConnector1">
            <a:avLst/>
          </a:prstGeom>
          <a:noFill/>
          <a:ln w="25400" cap="flat" cmpd="sng">
            <a:solidFill>
              <a:srgbClr val="E0BA5C"/>
            </a:solidFill>
            <a:prstDash val="solid"/>
            <a:round/>
            <a:headEnd type="none" w="sm" len="sm"/>
            <a:tailEnd type="none" w="sm" len="sm"/>
          </a:ln>
          <a:effectLst>
            <a:outerShdw blurRad="40000" dist="20000" dir="5400000" rotWithShape="0">
              <a:srgbClr val="000000">
                <a:alpha val="38040"/>
              </a:srgbClr>
            </a:outerShdw>
          </a:effectLst>
        </p:spPr>
      </p:cxnSp>
      <p:sp>
        <p:nvSpPr>
          <p:cNvPr id="162" name="Google Shape;162;h2994f3393d0b2db_0_104"/>
          <p:cNvSpPr txBox="1"/>
          <p:nvPr/>
        </p:nvSpPr>
        <p:spPr>
          <a:xfrm>
            <a:off x="11625431" y="6473950"/>
            <a:ext cx="337500" cy="2769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00" b="1">
                <a:solidFill>
                  <a:srgbClr val="184168"/>
                </a:solidFill>
              </a:rPr>
              <a:t>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h2994f3393d0b2db_0_109"/>
          <p:cNvSpPr txBox="1">
            <a:spLocks noGrp="1"/>
          </p:cNvSpPr>
          <p:nvPr>
            <p:ph type="title"/>
          </p:nvPr>
        </p:nvSpPr>
        <p:spPr>
          <a:xfrm>
            <a:off x="457200" y="274638"/>
            <a:ext cx="8229600" cy="11430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endParaRPr/>
          </a:p>
        </p:txBody>
      </p:sp>
      <p:sp>
        <p:nvSpPr>
          <p:cNvPr id="168" name="Google Shape;168;h2994f3393d0b2db_0_109"/>
          <p:cNvSpPr txBox="1">
            <a:spLocks noGrp="1"/>
          </p:cNvSpPr>
          <p:nvPr>
            <p:ph type="body" idx="1"/>
          </p:nvPr>
        </p:nvSpPr>
        <p:spPr>
          <a:xfrm>
            <a:off x="457200" y="1600200"/>
            <a:ext cx="8229600" cy="4526100"/>
          </a:xfrm>
          <a:prstGeom prst="rect">
            <a:avLst/>
          </a:prstGeom>
        </p:spPr>
        <p:txBody>
          <a:bodyPr spcFirstLastPara="1" wrap="square" lIns="91425" tIns="45700" rIns="91425" bIns="45700" anchor="t" anchorCtr="0">
            <a:normAutofit/>
          </a:bodyPr>
          <a:lstStyle/>
          <a:p>
            <a:pPr marL="0" lvl="0" indent="0" algn="l" rtl="0">
              <a:spcBef>
                <a:spcPts val="360"/>
              </a:spcBef>
              <a:spcAft>
                <a:spcPts val="0"/>
              </a:spcAft>
              <a:buNone/>
            </a:pPr>
            <a:endParaRPr/>
          </a:p>
        </p:txBody>
      </p:sp>
      <p:sp>
        <p:nvSpPr>
          <p:cNvPr id="169" name="Google Shape;169;h2994f3393d0b2db_0_109"/>
          <p:cNvSpPr/>
          <p:nvPr/>
        </p:nvSpPr>
        <p:spPr>
          <a:xfrm>
            <a:off x="0" y="0"/>
            <a:ext cx="12191700" cy="6858000"/>
          </a:xfrm>
          <a:prstGeom prst="rect">
            <a:avLst/>
          </a:prstGeom>
          <a:solidFill>
            <a:srgbClr val="FBFAF7"/>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170" name="Google Shape;170;h2994f3393d0b2db_0_109"/>
          <p:cNvSpPr txBox="1"/>
          <p:nvPr/>
        </p:nvSpPr>
        <p:spPr>
          <a:xfrm>
            <a:off x="868680" y="713232"/>
            <a:ext cx="73152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84168"/>
                </a:solidFill>
                <a:latin typeface="Play"/>
                <a:ea typeface="Play"/>
                <a:cs typeface="Play"/>
                <a:sym typeface="Play"/>
              </a:rPr>
              <a:t>Data &amp; Study Design</a:t>
            </a:r>
            <a:endParaRPr/>
          </a:p>
        </p:txBody>
      </p:sp>
      <p:sp>
        <p:nvSpPr>
          <p:cNvPr id="171" name="Google Shape;171;h2994f3393d0b2db_0_109"/>
          <p:cNvSpPr txBox="1"/>
          <p:nvPr/>
        </p:nvSpPr>
        <p:spPr>
          <a:xfrm>
            <a:off x="868680" y="1389888"/>
            <a:ext cx="9144000" cy="354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700" b="0" i="0" u="none" strike="noStrike" cap="none">
                <a:solidFill>
                  <a:srgbClr val="48525C"/>
                </a:solidFill>
                <a:latin typeface="Arial"/>
                <a:ea typeface="Arial"/>
                <a:cs typeface="Arial"/>
                <a:sym typeface="Arial"/>
              </a:rPr>
              <a:t>Global country-level data from the World Bank’s World Development Indicators.</a:t>
            </a:r>
            <a:endParaRPr/>
          </a:p>
        </p:txBody>
      </p:sp>
      <p:sp>
        <p:nvSpPr>
          <p:cNvPr id="172" name="Google Shape;172;h2994f3393d0b2db_0_109"/>
          <p:cNvSpPr/>
          <p:nvPr/>
        </p:nvSpPr>
        <p:spPr>
          <a:xfrm>
            <a:off x="868680" y="1847088"/>
            <a:ext cx="658500" cy="45600"/>
          </a:xfrm>
          <a:prstGeom prst="rect">
            <a:avLst/>
          </a:prstGeom>
          <a:solidFill>
            <a:srgbClr val="427D52"/>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173" name="Google Shape;173;h2994f3393d0b2db_0_109"/>
          <p:cNvSpPr txBox="1"/>
          <p:nvPr/>
        </p:nvSpPr>
        <p:spPr>
          <a:xfrm>
            <a:off x="914400" y="2304288"/>
            <a:ext cx="24690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none" strike="noStrike" cap="none">
                <a:solidFill>
                  <a:srgbClr val="427D52"/>
                </a:solidFill>
                <a:latin typeface="Arial"/>
                <a:ea typeface="Arial"/>
                <a:cs typeface="Arial"/>
                <a:sym typeface="Arial"/>
              </a:rPr>
              <a:t>ANALYTICAL SAMPLE</a:t>
            </a:r>
            <a:endParaRPr/>
          </a:p>
        </p:txBody>
      </p:sp>
      <p:sp>
        <p:nvSpPr>
          <p:cNvPr id="174" name="Google Shape;174;h2994f3393d0b2db_0_109"/>
          <p:cNvSpPr txBox="1"/>
          <p:nvPr/>
        </p:nvSpPr>
        <p:spPr>
          <a:xfrm>
            <a:off x="914400" y="2697480"/>
            <a:ext cx="2560200" cy="708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b="1" i="0" u="none" strike="noStrike" cap="none">
                <a:solidFill>
                  <a:srgbClr val="184168"/>
                </a:solidFill>
                <a:latin typeface="Play"/>
                <a:ea typeface="Play"/>
                <a:cs typeface="Play"/>
                <a:sym typeface="Play"/>
              </a:rPr>
              <a:t>142</a:t>
            </a:r>
            <a:endParaRPr/>
          </a:p>
        </p:txBody>
      </p:sp>
      <p:sp>
        <p:nvSpPr>
          <p:cNvPr id="175" name="Google Shape;175;h2994f3393d0b2db_0_109"/>
          <p:cNvSpPr txBox="1"/>
          <p:nvPr/>
        </p:nvSpPr>
        <p:spPr>
          <a:xfrm>
            <a:off x="914400" y="3364992"/>
            <a:ext cx="2697600" cy="87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700" b="0" i="0" u="none" strike="noStrike" cap="none">
                <a:solidFill>
                  <a:srgbClr val="48525C"/>
                </a:solidFill>
                <a:latin typeface="Arial"/>
                <a:ea typeface="Arial"/>
                <a:cs typeface="Arial"/>
                <a:sym typeface="Arial"/>
              </a:rPr>
              <a:t>countries with sufficient data</a:t>
            </a:r>
            <a:br>
              <a:rPr lang="en-US" sz="1700" b="0" i="0" u="none" strike="noStrike" cap="none">
                <a:solidFill>
                  <a:srgbClr val="48525C"/>
                </a:solidFill>
                <a:latin typeface="Arial"/>
                <a:ea typeface="Arial"/>
                <a:cs typeface="Arial"/>
                <a:sym typeface="Arial"/>
              </a:rPr>
            </a:br>
            <a:r>
              <a:rPr lang="en-US" sz="1700" b="0" i="0" u="none" strike="noStrike" cap="none">
                <a:solidFill>
                  <a:srgbClr val="48525C"/>
                </a:solidFill>
                <a:latin typeface="Arial"/>
                <a:ea typeface="Arial"/>
                <a:cs typeface="Arial"/>
                <a:sym typeface="Arial"/>
              </a:rPr>
              <a:t>for both analyses</a:t>
            </a:r>
            <a:endParaRPr/>
          </a:p>
        </p:txBody>
      </p:sp>
      <p:sp>
        <p:nvSpPr>
          <p:cNvPr id="176" name="Google Shape;176;h2994f3393d0b2db_0_109"/>
          <p:cNvSpPr txBox="1"/>
          <p:nvPr/>
        </p:nvSpPr>
        <p:spPr>
          <a:xfrm>
            <a:off x="914400" y="4315968"/>
            <a:ext cx="24690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none" strike="noStrike" cap="none">
                <a:solidFill>
                  <a:srgbClr val="427D52"/>
                </a:solidFill>
                <a:latin typeface="Arial"/>
                <a:ea typeface="Arial"/>
                <a:cs typeface="Arial"/>
                <a:sym typeface="Arial"/>
              </a:rPr>
              <a:t>DATA SOURCE</a:t>
            </a:r>
            <a:endParaRPr/>
          </a:p>
        </p:txBody>
      </p:sp>
      <p:sp>
        <p:nvSpPr>
          <p:cNvPr id="177" name="Google Shape;177;h2994f3393d0b2db_0_109"/>
          <p:cNvSpPr txBox="1"/>
          <p:nvPr/>
        </p:nvSpPr>
        <p:spPr>
          <a:xfrm>
            <a:off x="914400" y="4709160"/>
            <a:ext cx="2743200" cy="87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700" b="1" i="0" u="none" strike="noStrike" cap="none">
                <a:solidFill>
                  <a:srgbClr val="184168"/>
                </a:solidFill>
                <a:latin typeface="Arial"/>
                <a:ea typeface="Arial"/>
                <a:cs typeface="Arial"/>
                <a:sym typeface="Arial"/>
              </a:rPr>
              <a:t>World Bank</a:t>
            </a:r>
            <a:br>
              <a:rPr lang="en-US" sz="1700" b="1" i="0" u="none" strike="noStrike" cap="none">
                <a:solidFill>
                  <a:srgbClr val="184168"/>
                </a:solidFill>
                <a:latin typeface="Arial"/>
                <a:ea typeface="Arial"/>
                <a:cs typeface="Arial"/>
                <a:sym typeface="Arial"/>
              </a:rPr>
            </a:br>
            <a:r>
              <a:rPr lang="en-US" sz="1700" b="1" i="0" u="none" strike="noStrike" cap="none">
                <a:solidFill>
                  <a:srgbClr val="184168"/>
                </a:solidFill>
                <a:latin typeface="Arial"/>
                <a:ea typeface="Arial"/>
                <a:cs typeface="Arial"/>
                <a:sym typeface="Arial"/>
              </a:rPr>
              <a:t>World Development Indicators</a:t>
            </a:r>
            <a:endParaRPr/>
          </a:p>
        </p:txBody>
      </p:sp>
      <p:sp>
        <p:nvSpPr>
          <p:cNvPr id="178" name="Google Shape;178;h2994f3393d0b2db_0_109"/>
          <p:cNvSpPr/>
          <p:nvPr/>
        </p:nvSpPr>
        <p:spPr>
          <a:xfrm>
            <a:off x="3886200" y="2240280"/>
            <a:ext cx="18300" cy="3337500"/>
          </a:xfrm>
          <a:prstGeom prst="rect">
            <a:avLst/>
          </a:prstGeom>
          <a:solidFill>
            <a:srgbClr val="DAE1DD"/>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179" name="Google Shape;179;h2994f3393d0b2db_0_109"/>
          <p:cNvSpPr txBox="1"/>
          <p:nvPr/>
        </p:nvSpPr>
        <p:spPr>
          <a:xfrm>
            <a:off x="4315968" y="2304288"/>
            <a:ext cx="26517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none" strike="noStrike" cap="none">
                <a:solidFill>
                  <a:srgbClr val="184168"/>
                </a:solidFill>
                <a:latin typeface="Arial"/>
                <a:ea typeface="Arial"/>
                <a:cs typeface="Arial"/>
                <a:sym typeface="Arial"/>
              </a:rPr>
              <a:t>KEY VARIABLES</a:t>
            </a:r>
            <a:endParaRPr/>
          </a:p>
        </p:txBody>
      </p:sp>
      <p:sp>
        <p:nvSpPr>
          <p:cNvPr id="180" name="Google Shape;180;h2994f3393d0b2db_0_109"/>
          <p:cNvSpPr txBox="1"/>
          <p:nvPr/>
        </p:nvSpPr>
        <p:spPr>
          <a:xfrm>
            <a:off x="4315968" y="2761488"/>
            <a:ext cx="29262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u="none" strike="noStrike" cap="none">
                <a:solidFill>
                  <a:srgbClr val="427D52"/>
                </a:solidFill>
                <a:latin typeface="Arial"/>
                <a:ea typeface="Arial"/>
                <a:cs typeface="Arial"/>
                <a:sym typeface="Arial"/>
              </a:rPr>
              <a:t>Energy use per capita</a:t>
            </a:r>
            <a:endParaRPr/>
          </a:p>
        </p:txBody>
      </p:sp>
      <p:sp>
        <p:nvSpPr>
          <p:cNvPr id="181" name="Google Shape;181;h2994f3393d0b2db_0_109"/>
          <p:cNvSpPr txBox="1"/>
          <p:nvPr/>
        </p:nvSpPr>
        <p:spPr>
          <a:xfrm>
            <a:off x="4315968" y="3182112"/>
            <a:ext cx="2880300" cy="5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0" i="0" u="none" strike="noStrike" cap="none">
                <a:solidFill>
                  <a:srgbClr val="48525C"/>
                </a:solidFill>
                <a:latin typeface="Arial"/>
                <a:ea typeface="Arial"/>
                <a:cs typeface="Arial"/>
                <a:sym typeface="Arial"/>
              </a:rPr>
              <a:t>kg of oil equivalent</a:t>
            </a:r>
            <a:br>
              <a:rPr lang="en-US" sz="1500" b="0" i="0" u="none" strike="noStrike" cap="none">
                <a:solidFill>
                  <a:srgbClr val="48525C"/>
                </a:solidFill>
                <a:latin typeface="Arial"/>
                <a:ea typeface="Arial"/>
                <a:cs typeface="Arial"/>
                <a:sym typeface="Arial"/>
              </a:rPr>
            </a:br>
            <a:r>
              <a:rPr lang="en-US" sz="1500" b="0" i="0" u="none" strike="noStrike" cap="none">
                <a:solidFill>
                  <a:srgbClr val="48525C"/>
                </a:solidFill>
                <a:latin typeface="Arial"/>
                <a:ea typeface="Arial"/>
                <a:cs typeface="Arial"/>
                <a:sym typeface="Arial"/>
              </a:rPr>
              <a:t>per capita</a:t>
            </a:r>
            <a:endParaRPr/>
          </a:p>
        </p:txBody>
      </p:sp>
      <p:sp>
        <p:nvSpPr>
          <p:cNvPr id="182" name="Google Shape;182;h2994f3393d0b2db_0_109"/>
          <p:cNvSpPr txBox="1"/>
          <p:nvPr/>
        </p:nvSpPr>
        <p:spPr>
          <a:xfrm>
            <a:off x="4315968" y="4041648"/>
            <a:ext cx="29262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u="none" strike="noStrike" cap="none">
                <a:solidFill>
                  <a:srgbClr val="184168"/>
                </a:solidFill>
                <a:latin typeface="Arial"/>
                <a:ea typeface="Arial"/>
                <a:cs typeface="Arial"/>
                <a:sym typeface="Arial"/>
              </a:rPr>
              <a:t>GDP per capita</a:t>
            </a:r>
            <a:endParaRPr/>
          </a:p>
        </p:txBody>
      </p:sp>
      <p:sp>
        <p:nvSpPr>
          <p:cNvPr id="183" name="Google Shape;183;h2994f3393d0b2db_0_109"/>
          <p:cNvSpPr txBox="1"/>
          <p:nvPr/>
        </p:nvSpPr>
        <p:spPr>
          <a:xfrm>
            <a:off x="4315968" y="4462272"/>
            <a:ext cx="2926200" cy="5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0" i="0" u="none" strike="noStrike" cap="none">
                <a:solidFill>
                  <a:srgbClr val="48525C"/>
                </a:solidFill>
                <a:latin typeface="Arial"/>
                <a:ea typeface="Arial"/>
                <a:cs typeface="Arial"/>
                <a:sym typeface="Arial"/>
              </a:rPr>
              <a:t>PPP, constant 2021</a:t>
            </a:r>
            <a:br>
              <a:rPr lang="en-US" sz="1500" b="0" i="0" u="none" strike="noStrike" cap="none">
                <a:solidFill>
                  <a:srgbClr val="48525C"/>
                </a:solidFill>
                <a:latin typeface="Arial"/>
                <a:ea typeface="Arial"/>
                <a:cs typeface="Arial"/>
                <a:sym typeface="Arial"/>
              </a:rPr>
            </a:br>
            <a:r>
              <a:rPr lang="en-US" sz="1500" b="0" i="0" u="none" strike="noStrike" cap="none">
                <a:solidFill>
                  <a:srgbClr val="48525C"/>
                </a:solidFill>
                <a:latin typeface="Arial"/>
                <a:ea typeface="Arial"/>
                <a:cs typeface="Arial"/>
                <a:sym typeface="Arial"/>
              </a:rPr>
              <a:t>international dollars</a:t>
            </a:r>
            <a:endParaRPr/>
          </a:p>
        </p:txBody>
      </p:sp>
      <p:sp>
        <p:nvSpPr>
          <p:cNvPr id="184" name="Google Shape;184;h2994f3393d0b2db_0_109"/>
          <p:cNvSpPr/>
          <p:nvPr/>
        </p:nvSpPr>
        <p:spPr>
          <a:xfrm>
            <a:off x="7635240" y="2176272"/>
            <a:ext cx="3612000" cy="3584400"/>
          </a:xfrm>
          <a:prstGeom prst="roundRect">
            <a:avLst>
              <a:gd name="adj" fmla="val 16667"/>
            </a:avLst>
          </a:prstGeom>
          <a:solidFill>
            <a:srgbClr val="EEF4F8"/>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185" name="Google Shape;185;h2994f3393d0b2db_0_109"/>
          <p:cNvSpPr txBox="1"/>
          <p:nvPr/>
        </p:nvSpPr>
        <p:spPr>
          <a:xfrm>
            <a:off x="7973568" y="2487168"/>
            <a:ext cx="28347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none" strike="noStrike" cap="none">
                <a:solidFill>
                  <a:srgbClr val="184168"/>
                </a:solidFill>
                <a:latin typeface="Arial"/>
                <a:ea typeface="Arial"/>
                <a:cs typeface="Arial"/>
                <a:sym typeface="Arial"/>
              </a:rPr>
              <a:t>HOW THE DATA ARE USED</a:t>
            </a:r>
            <a:endParaRPr/>
          </a:p>
        </p:txBody>
      </p:sp>
      <p:sp>
        <p:nvSpPr>
          <p:cNvPr id="186" name="Google Shape;186;h2994f3393d0b2db_0_109"/>
          <p:cNvSpPr txBox="1"/>
          <p:nvPr/>
        </p:nvSpPr>
        <p:spPr>
          <a:xfrm>
            <a:off x="7973568" y="2953512"/>
            <a:ext cx="2743200" cy="354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700" b="1" i="0" u="none" strike="noStrike" cap="none">
                <a:solidFill>
                  <a:srgbClr val="427D52"/>
                </a:solidFill>
                <a:latin typeface="Arial"/>
                <a:ea typeface="Arial"/>
                <a:cs typeface="Arial"/>
                <a:sym typeface="Arial"/>
              </a:rPr>
              <a:t>RQ1  •  2010 → 2021</a:t>
            </a:r>
            <a:endParaRPr/>
          </a:p>
        </p:txBody>
      </p:sp>
      <p:sp>
        <p:nvSpPr>
          <p:cNvPr id="187" name="Google Shape;187;h2994f3393d0b2db_0_109"/>
          <p:cNvSpPr txBox="1"/>
          <p:nvPr/>
        </p:nvSpPr>
        <p:spPr>
          <a:xfrm>
            <a:off x="7973568" y="3328416"/>
            <a:ext cx="2743200" cy="1131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50" b="0" i="0" u="none" strike="noStrike" cap="none">
                <a:solidFill>
                  <a:srgbClr val="48525C"/>
                </a:solidFill>
                <a:latin typeface="Arial"/>
                <a:ea typeface="Arial"/>
                <a:cs typeface="Arial"/>
                <a:sym typeface="Arial"/>
              </a:rPr>
              <a:t>Calculate 2010–2021 energy-use change. Split countries by median 2010 GDP per capita: lower vs. higher initial development.</a:t>
            </a:r>
            <a:endParaRPr/>
          </a:p>
        </p:txBody>
      </p:sp>
      <p:sp>
        <p:nvSpPr>
          <p:cNvPr id="188" name="Google Shape;188;h2994f3393d0b2db_0_109"/>
          <p:cNvSpPr txBox="1"/>
          <p:nvPr/>
        </p:nvSpPr>
        <p:spPr>
          <a:xfrm>
            <a:off x="7973568" y="4370832"/>
            <a:ext cx="2743200" cy="354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700" b="1" i="0" u="none" strike="noStrike" cap="none">
                <a:solidFill>
                  <a:srgbClr val="184168"/>
                </a:solidFill>
                <a:latin typeface="Arial"/>
                <a:ea typeface="Arial"/>
                <a:cs typeface="Arial"/>
                <a:sym typeface="Arial"/>
              </a:rPr>
              <a:t>RQ2  •  2021</a:t>
            </a:r>
            <a:endParaRPr/>
          </a:p>
        </p:txBody>
      </p:sp>
      <p:sp>
        <p:nvSpPr>
          <p:cNvPr id="189" name="Google Shape;189;h2994f3393d0b2db_0_109"/>
          <p:cNvSpPr txBox="1"/>
          <p:nvPr/>
        </p:nvSpPr>
        <p:spPr>
          <a:xfrm>
            <a:off x="7973568" y="4754880"/>
            <a:ext cx="2743200" cy="715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50" b="0" i="0" u="none" strike="noStrike" cap="none">
                <a:solidFill>
                  <a:srgbClr val="48525C"/>
                </a:solidFill>
                <a:latin typeface="Arial"/>
                <a:ea typeface="Arial"/>
                <a:cs typeface="Arial"/>
                <a:sym typeface="Arial"/>
              </a:rPr>
              <a:t>Model the relationship between 2021 energy consumption per capita and 2021 GDP per capita.</a:t>
            </a:r>
            <a:endParaRPr/>
          </a:p>
        </p:txBody>
      </p:sp>
      <p:sp>
        <p:nvSpPr>
          <p:cNvPr id="190" name="Google Shape;190;h2994f3393d0b2db_0_109"/>
          <p:cNvSpPr/>
          <p:nvPr/>
        </p:nvSpPr>
        <p:spPr>
          <a:xfrm>
            <a:off x="2057400" y="5925312"/>
            <a:ext cx="8092500" cy="475500"/>
          </a:xfrm>
          <a:prstGeom prst="roundRect">
            <a:avLst>
              <a:gd name="adj" fmla="val 16667"/>
            </a:avLst>
          </a:prstGeom>
          <a:solidFill>
            <a:srgbClr val="EFF6F0"/>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191" name="Google Shape;191;h2994f3393d0b2db_0_109"/>
          <p:cNvSpPr txBox="1"/>
          <p:nvPr/>
        </p:nvSpPr>
        <p:spPr>
          <a:xfrm>
            <a:off x="2331720" y="6044184"/>
            <a:ext cx="7543800" cy="292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300" b="1" i="0" u="none" strike="noStrike" cap="none">
                <a:solidFill>
                  <a:srgbClr val="427D52"/>
                </a:solidFill>
                <a:latin typeface="Arial"/>
                <a:ea typeface="Arial"/>
                <a:cs typeface="Arial"/>
                <a:sym typeface="Arial"/>
              </a:rPr>
              <a:t>Complete-case approach • no imputation for missing required analysis data</a:t>
            </a:r>
            <a:endParaRPr/>
          </a:p>
        </p:txBody>
      </p:sp>
      <p:sp>
        <p:nvSpPr>
          <p:cNvPr id="192" name="Google Shape;192;h2994f3393d0b2db_0_109"/>
          <p:cNvSpPr txBox="1"/>
          <p:nvPr/>
        </p:nvSpPr>
        <p:spPr>
          <a:xfrm>
            <a:off x="11604820" y="6400802"/>
            <a:ext cx="320100" cy="2769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200" b="1" i="0" u="none" strike="noStrike" cap="none">
                <a:solidFill>
                  <a:srgbClr val="184168"/>
                </a:solidFill>
                <a:latin typeface="Arial"/>
                <a:ea typeface="Arial"/>
                <a:cs typeface="Arial"/>
                <a:sym typeface="Arial"/>
              </a:rPr>
              <a:t>4</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h2994f3393d0b2db_0_124"/>
          <p:cNvSpPr txBox="1">
            <a:spLocks noGrp="1"/>
          </p:cNvSpPr>
          <p:nvPr>
            <p:ph type="title"/>
          </p:nvPr>
        </p:nvSpPr>
        <p:spPr>
          <a:xfrm>
            <a:off x="457200" y="274638"/>
            <a:ext cx="8229600" cy="11430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endParaRPr/>
          </a:p>
        </p:txBody>
      </p:sp>
      <p:sp>
        <p:nvSpPr>
          <p:cNvPr id="198" name="Google Shape;198;h2994f3393d0b2db_0_124"/>
          <p:cNvSpPr txBox="1">
            <a:spLocks noGrp="1"/>
          </p:cNvSpPr>
          <p:nvPr>
            <p:ph type="body" idx="1"/>
          </p:nvPr>
        </p:nvSpPr>
        <p:spPr>
          <a:xfrm>
            <a:off x="457200" y="1600200"/>
            <a:ext cx="8229600" cy="4526100"/>
          </a:xfrm>
          <a:prstGeom prst="rect">
            <a:avLst/>
          </a:prstGeom>
        </p:spPr>
        <p:txBody>
          <a:bodyPr spcFirstLastPara="1" wrap="square" lIns="91425" tIns="45700" rIns="91425" bIns="45700" anchor="t" anchorCtr="0">
            <a:normAutofit/>
          </a:bodyPr>
          <a:lstStyle/>
          <a:p>
            <a:pPr marL="0" lvl="0" indent="0" algn="l" rtl="0">
              <a:spcBef>
                <a:spcPts val="360"/>
              </a:spcBef>
              <a:spcAft>
                <a:spcPts val="0"/>
              </a:spcAft>
              <a:buNone/>
            </a:pPr>
            <a:endParaRPr/>
          </a:p>
        </p:txBody>
      </p:sp>
      <p:sp>
        <p:nvSpPr>
          <p:cNvPr id="199" name="Google Shape;199;h2994f3393d0b2db_0_124"/>
          <p:cNvSpPr/>
          <p:nvPr/>
        </p:nvSpPr>
        <p:spPr>
          <a:xfrm>
            <a:off x="-12" y="0"/>
            <a:ext cx="12191700" cy="6858000"/>
          </a:xfrm>
          <a:prstGeom prst="rect">
            <a:avLst/>
          </a:prstGeom>
          <a:solidFill>
            <a:srgbClr val="FBFAF7"/>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200" name="Google Shape;200;h2994f3393d0b2db_0_124"/>
          <p:cNvSpPr txBox="1"/>
          <p:nvPr/>
        </p:nvSpPr>
        <p:spPr>
          <a:xfrm>
            <a:off x="868680" y="309803"/>
            <a:ext cx="102414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84168"/>
                </a:solidFill>
                <a:latin typeface="Play"/>
                <a:ea typeface="Play"/>
                <a:cs typeface="Play"/>
                <a:sym typeface="Play"/>
              </a:rPr>
              <a:t>RQ1 — What Does the Data Show?</a:t>
            </a:r>
            <a:endParaRPr/>
          </a:p>
        </p:txBody>
      </p:sp>
      <p:sp>
        <p:nvSpPr>
          <p:cNvPr id="201" name="Google Shape;201;h2994f3393d0b2db_0_124"/>
          <p:cNvSpPr txBox="1"/>
          <p:nvPr/>
        </p:nvSpPr>
        <p:spPr>
          <a:xfrm>
            <a:off x="914355" y="797917"/>
            <a:ext cx="9784200" cy="354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700" b="0" i="0" u="none" strike="noStrike" cap="none">
                <a:solidFill>
                  <a:srgbClr val="48525C"/>
                </a:solidFill>
                <a:latin typeface="Arial"/>
                <a:ea typeface="Arial"/>
                <a:cs typeface="Arial"/>
                <a:sym typeface="Arial"/>
              </a:rPr>
              <a:t>Energy-use changes differ sharply between the two initial-development groups.</a:t>
            </a:r>
            <a:endParaRPr/>
          </a:p>
        </p:txBody>
      </p:sp>
      <p:sp>
        <p:nvSpPr>
          <p:cNvPr id="202" name="Google Shape;202;h2994f3393d0b2db_0_124"/>
          <p:cNvSpPr/>
          <p:nvPr/>
        </p:nvSpPr>
        <p:spPr>
          <a:xfrm>
            <a:off x="914350" y="1417638"/>
            <a:ext cx="4572000" cy="1828800"/>
          </a:xfrm>
          <a:prstGeom prst="roundRect">
            <a:avLst>
              <a:gd name="adj" fmla="val 16667"/>
            </a:avLst>
          </a:prstGeom>
          <a:solidFill>
            <a:srgbClr val="EEF4F8"/>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203" name="Google Shape;203;h2994f3393d0b2db_0_124"/>
          <p:cNvSpPr txBox="1"/>
          <p:nvPr/>
        </p:nvSpPr>
        <p:spPr>
          <a:xfrm>
            <a:off x="1234440" y="1710246"/>
            <a:ext cx="39318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none" strike="noStrike" cap="none">
                <a:solidFill>
                  <a:srgbClr val="184168"/>
                </a:solidFill>
                <a:latin typeface="Arial"/>
                <a:ea typeface="Arial"/>
                <a:cs typeface="Arial"/>
                <a:sym typeface="Arial"/>
              </a:rPr>
              <a:t>HIGHER INITIAL DEVELOPMENT</a:t>
            </a:r>
            <a:endParaRPr/>
          </a:p>
        </p:txBody>
      </p:sp>
      <p:sp>
        <p:nvSpPr>
          <p:cNvPr id="204" name="Google Shape;204;h2994f3393d0b2db_0_124"/>
          <p:cNvSpPr txBox="1"/>
          <p:nvPr/>
        </p:nvSpPr>
        <p:spPr>
          <a:xfrm>
            <a:off x="1234440" y="2103438"/>
            <a:ext cx="2286000" cy="507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700" b="1" i="0" u="none" strike="noStrike" cap="none">
                <a:solidFill>
                  <a:srgbClr val="184168"/>
                </a:solidFill>
                <a:latin typeface="Play"/>
                <a:ea typeface="Play"/>
                <a:cs typeface="Play"/>
                <a:sym typeface="Play"/>
              </a:rPr>
              <a:t>−445.8 kg</a:t>
            </a:r>
            <a:endParaRPr/>
          </a:p>
        </p:txBody>
      </p:sp>
      <p:sp>
        <p:nvSpPr>
          <p:cNvPr id="205" name="Google Shape;205;h2994f3393d0b2db_0_124"/>
          <p:cNvSpPr txBox="1"/>
          <p:nvPr/>
        </p:nvSpPr>
        <p:spPr>
          <a:xfrm>
            <a:off x="3566160" y="2194878"/>
            <a:ext cx="16002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none" strike="noStrike" cap="none">
                <a:solidFill>
                  <a:srgbClr val="48525C"/>
                </a:solidFill>
                <a:latin typeface="Arial"/>
                <a:ea typeface="Arial"/>
                <a:cs typeface="Arial"/>
                <a:sym typeface="Arial"/>
              </a:rPr>
              <a:t>SD = 1,115.3 kg</a:t>
            </a:r>
            <a:endParaRPr/>
          </a:p>
        </p:txBody>
      </p:sp>
      <p:sp>
        <p:nvSpPr>
          <p:cNvPr id="206" name="Google Shape;206;h2994f3393d0b2db_0_124"/>
          <p:cNvSpPr txBox="1"/>
          <p:nvPr/>
        </p:nvSpPr>
        <p:spPr>
          <a:xfrm>
            <a:off x="1234440" y="2725230"/>
            <a:ext cx="3931800" cy="292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b="0" i="0" u="none" strike="noStrike" cap="none">
                <a:solidFill>
                  <a:srgbClr val="48525C"/>
                </a:solidFill>
                <a:latin typeface="Arial"/>
                <a:ea typeface="Arial"/>
                <a:cs typeface="Arial"/>
                <a:sym typeface="Arial"/>
              </a:rPr>
              <a:t>Mean change in energy use per capita, 2010–2021</a:t>
            </a:r>
            <a:endParaRPr/>
          </a:p>
        </p:txBody>
      </p:sp>
      <p:sp>
        <p:nvSpPr>
          <p:cNvPr id="207" name="Google Shape;207;h2994f3393d0b2db_0_124"/>
          <p:cNvSpPr/>
          <p:nvPr/>
        </p:nvSpPr>
        <p:spPr>
          <a:xfrm>
            <a:off x="914350" y="3711138"/>
            <a:ext cx="4572000" cy="1828800"/>
          </a:xfrm>
          <a:prstGeom prst="roundRect">
            <a:avLst>
              <a:gd name="adj" fmla="val 16667"/>
            </a:avLst>
          </a:prstGeom>
          <a:solidFill>
            <a:srgbClr val="EFF6F0"/>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208" name="Google Shape;208;h2994f3393d0b2db_0_124"/>
          <p:cNvSpPr txBox="1"/>
          <p:nvPr/>
        </p:nvSpPr>
        <p:spPr>
          <a:xfrm>
            <a:off x="1234390" y="4003746"/>
            <a:ext cx="39318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none" strike="noStrike" cap="none">
                <a:solidFill>
                  <a:srgbClr val="427D52"/>
                </a:solidFill>
                <a:latin typeface="Arial"/>
                <a:ea typeface="Arial"/>
                <a:cs typeface="Arial"/>
                <a:sym typeface="Arial"/>
              </a:rPr>
              <a:t>LOWER INITIAL DEVELOPMENT</a:t>
            </a:r>
            <a:endParaRPr/>
          </a:p>
        </p:txBody>
      </p:sp>
      <p:sp>
        <p:nvSpPr>
          <p:cNvPr id="209" name="Google Shape;209;h2994f3393d0b2db_0_124"/>
          <p:cNvSpPr txBox="1"/>
          <p:nvPr/>
        </p:nvSpPr>
        <p:spPr>
          <a:xfrm>
            <a:off x="1234390" y="4396938"/>
            <a:ext cx="2286000" cy="507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700" b="1" i="0" u="none" strike="noStrike" cap="none">
                <a:solidFill>
                  <a:srgbClr val="427D52"/>
                </a:solidFill>
                <a:latin typeface="Play"/>
                <a:ea typeface="Play"/>
                <a:cs typeface="Play"/>
                <a:sym typeface="Play"/>
              </a:rPr>
              <a:t>+121.7 kg</a:t>
            </a:r>
            <a:endParaRPr/>
          </a:p>
        </p:txBody>
      </p:sp>
      <p:sp>
        <p:nvSpPr>
          <p:cNvPr id="210" name="Google Shape;210;h2994f3393d0b2db_0_124"/>
          <p:cNvSpPr txBox="1"/>
          <p:nvPr/>
        </p:nvSpPr>
        <p:spPr>
          <a:xfrm>
            <a:off x="3566110" y="4488378"/>
            <a:ext cx="16002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none" strike="noStrike" cap="none">
                <a:solidFill>
                  <a:srgbClr val="48525C"/>
                </a:solidFill>
                <a:latin typeface="Arial"/>
                <a:ea typeface="Arial"/>
                <a:cs typeface="Arial"/>
                <a:sym typeface="Arial"/>
              </a:rPr>
              <a:t>SD = 230.6 kg</a:t>
            </a:r>
            <a:endParaRPr/>
          </a:p>
        </p:txBody>
      </p:sp>
      <p:sp>
        <p:nvSpPr>
          <p:cNvPr id="211" name="Google Shape;211;h2994f3393d0b2db_0_124"/>
          <p:cNvSpPr txBox="1"/>
          <p:nvPr/>
        </p:nvSpPr>
        <p:spPr>
          <a:xfrm>
            <a:off x="1234390" y="5018730"/>
            <a:ext cx="3931800" cy="292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b="0" i="0" u="none" strike="noStrike" cap="none">
                <a:solidFill>
                  <a:srgbClr val="48525C"/>
                </a:solidFill>
                <a:latin typeface="Arial"/>
                <a:ea typeface="Arial"/>
                <a:cs typeface="Arial"/>
                <a:sym typeface="Arial"/>
              </a:rPr>
              <a:t>Mean change in energy use per capita, 2010–2021</a:t>
            </a:r>
            <a:endParaRPr/>
          </a:p>
        </p:txBody>
      </p:sp>
      <p:sp>
        <p:nvSpPr>
          <p:cNvPr id="212" name="Google Shape;212;h2994f3393d0b2db_0_124"/>
          <p:cNvSpPr txBox="1"/>
          <p:nvPr/>
        </p:nvSpPr>
        <p:spPr>
          <a:xfrm>
            <a:off x="11036309" y="6402849"/>
            <a:ext cx="926700" cy="2769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200" b="1">
                <a:solidFill>
                  <a:srgbClr val="184168"/>
                </a:solidFill>
              </a:rPr>
              <a:t>5</a:t>
            </a:r>
            <a:endParaRPr/>
          </a:p>
        </p:txBody>
      </p:sp>
      <p:sp>
        <p:nvSpPr>
          <p:cNvPr id="213" name="Google Shape;213;h2994f3393d0b2db_0_124"/>
          <p:cNvSpPr txBox="1"/>
          <p:nvPr/>
        </p:nvSpPr>
        <p:spPr>
          <a:xfrm>
            <a:off x="914350" y="5829950"/>
            <a:ext cx="10553400" cy="354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700" b="1" i="0" u="none" strike="noStrike" cap="none">
                <a:solidFill>
                  <a:srgbClr val="184168"/>
                </a:solidFill>
                <a:latin typeface="Arial"/>
                <a:ea typeface="Arial"/>
                <a:cs typeface="Arial"/>
                <a:sym typeface="Arial"/>
              </a:rPr>
              <a:t>Higher-development countries decreased on average, while lower-development countries increased.</a:t>
            </a:r>
            <a:endParaRPr/>
          </a:p>
        </p:txBody>
      </p:sp>
      <p:pic>
        <p:nvPicPr>
          <p:cNvPr id="214" name="Google Shape;214;h2994f3393d0b2db_0_124"/>
          <p:cNvPicPr preferRelativeResize="0"/>
          <p:nvPr/>
        </p:nvPicPr>
        <p:blipFill>
          <a:blip r:embed="rId3">
            <a:alphaModFix/>
          </a:blip>
          <a:stretch>
            <a:fillRect/>
          </a:stretch>
        </p:blipFill>
        <p:spPr>
          <a:xfrm>
            <a:off x="6009800" y="1697315"/>
            <a:ext cx="5457950" cy="337308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h2994f3393d0b2db_0_119"/>
          <p:cNvSpPr txBox="1">
            <a:spLocks noGrp="1"/>
          </p:cNvSpPr>
          <p:nvPr>
            <p:ph type="title"/>
          </p:nvPr>
        </p:nvSpPr>
        <p:spPr>
          <a:xfrm>
            <a:off x="457200" y="274638"/>
            <a:ext cx="8229600" cy="11430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endParaRPr/>
          </a:p>
        </p:txBody>
      </p:sp>
      <p:sp>
        <p:nvSpPr>
          <p:cNvPr id="220" name="Google Shape;220;h2994f3393d0b2db_0_119"/>
          <p:cNvSpPr txBox="1">
            <a:spLocks noGrp="1"/>
          </p:cNvSpPr>
          <p:nvPr>
            <p:ph type="body" idx="1"/>
          </p:nvPr>
        </p:nvSpPr>
        <p:spPr>
          <a:xfrm>
            <a:off x="457200" y="1600200"/>
            <a:ext cx="8229600" cy="4526100"/>
          </a:xfrm>
          <a:prstGeom prst="rect">
            <a:avLst/>
          </a:prstGeom>
        </p:spPr>
        <p:txBody>
          <a:bodyPr spcFirstLastPara="1" wrap="square" lIns="91425" tIns="45700" rIns="91425" bIns="45700" anchor="t" anchorCtr="0">
            <a:normAutofit/>
          </a:bodyPr>
          <a:lstStyle/>
          <a:p>
            <a:pPr marL="0" lvl="0" indent="0" algn="l" rtl="0">
              <a:spcBef>
                <a:spcPts val="360"/>
              </a:spcBef>
              <a:spcAft>
                <a:spcPts val="0"/>
              </a:spcAft>
              <a:buNone/>
            </a:pPr>
            <a:endParaRPr/>
          </a:p>
        </p:txBody>
      </p:sp>
      <p:sp>
        <p:nvSpPr>
          <p:cNvPr id="221" name="Google Shape;221;h2994f3393d0b2db_0_119"/>
          <p:cNvSpPr/>
          <p:nvPr/>
        </p:nvSpPr>
        <p:spPr>
          <a:xfrm>
            <a:off x="0" y="0"/>
            <a:ext cx="12191700" cy="6858000"/>
          </a:xfrm>
          <a:prstGeom prst="rect">
            <a:avLst/>
          </a:prstGeom>
          <a:solidFill>
            <a:srgbClr val="FBFAF7"/>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222" name="Google Shape;222;h2994f3393d0b2db_0_119"/>
          <p:cNvSpPr txBox="1"/>
          <p:nvPr/>
        </p:nvSpPr>
        <p:spPr>
          <a:xfrm>
            <a:off x="868680" y="530352"/>
            <a:ext cx="102414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84168"/>
                </a:solidFill>
                <a:latin typeface="Play"/>
                <a:ea typeface="Play"/>
                <a:cs typeface="Play"/>
                <a:sym typeface="Play"/>
              </a:rPr>
              <a:t>RQ1 — Statistical Results</a:t>
            </a:r>
            <a:endParaRPr/>
          </a:p>
        </p:txBody>
      </p:sp>
      <p:sp>
        <p:nvSpPr>
          <p:cNvPr id="223" name="Google Shape;223;h2994f3393d0b2db_0_119"/>
          <p:cNvSpPr txBox="1"/>
          <p:nvPr/>
        </p:nvSpPr>
        <p:spPr>
          <a:xfrm>
            <a:off x="868680" y="1271016"/>
            <a:ext cx="9875400" cy="354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700" b="0" i="0" u="none" strike="noStrike" cap="none">
                <a:solidFill>
                  <a:srgbClr val="48525C"/>
                </a:solidFill>
                <a:latin typeface="Arial"/>
                <a:ea typeface="Arial"/>
                <a:cs typeface="Arial"/>
                <a:sym typeface="Arial"/>
              </a:rPr>
              <a:t>The two development groups show a statistically significant difference in mean energy-use change.</a:t>
            </a:r>
            <a:endParaRPr/>
          </a:p>
        </p:txBody>
      </p:sp>
      <p:sp>
        <p:nvSpPr>
          <p:cNvPr id="224" name="Google Shape;224;h2994f3393d0b2db_0_119"/>
          <p:cNvSpPr/>
          <p:nvPr/>
        </p:nvSpPr>
        <p:spPr>
          <a:xfrm>
            <a:off x="868680" y="1792224"/>
            <a:ext cx="658500" cy="45600"/>
          </a:xfrm>
          <a:prstGeom prst="rect">
            <a:avLst/>
          </a:prstGeom>
          <a:solidFill>
            <a:srgbClr val="427D52"/>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225" name="Google Shape;225;h2994f3393d0b2db_0_119"/>
          <p:cNvSpPr txBox="1"/>
          <p:nvPr/>
        </p:nvSpPr>
        <p:spPr>
          <a:xfrm>
            <a:off x="11338695" y="6438427"/>
            <a:ext cx="320100" cy="2769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200" b="1">
                <a:solidFill>
                  <a:srgbClr val="184168"/>
                </a:solidFill>
              </a:rPr>
              <a:t>6</a:t>
            </a:r>
            <a:endParaRPr/>
          </a:p>
        </p:txBody>
      </p:sp>
      <p:sp>
        <p:nvSpPr>
          <p:cNvPr id="226" name="Google Shape;226;h2994f3393d0b2db_0_119"/>
          <p:cNvSpPr/>
          <p:nvPr/>
        </p:nvSpPr>
        <p:spPr>
          <a:xfrm>
            <a:off x="896100" y="2148850"/>
            <a:ext cx="4581900" cy="1986600"/>
          </a:xfrm>
          <a:prstGeom prst="roundRect">
            <a:avLst>
              <a:gd name="adj" fmla="val 16667"/>
            </a:avLst>
          </a:prstGeom>
          <a:solidFill>
            <a:srgbClr val="EEF4F8"/>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227" name="Google Shape;227;h2994f3393d0b2db_0_119"/>
          <p:cNvSpPr txBox="1"/>
          <p:nvPr/>
        </p:nvSpPr>
        <p:spPr>
          <a:xfrm>
            <a:off x="1188720" y="2331720"/>
            <a:ext cx="2926200" cy="338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i="0" u="none" strike="noStrike" cap="none">
                <a:solidFill>
                  <a:srgbClr val="184168"/>
                </a:solidFill>
                <a:latin typeface="Arial"/>
                <a:ea typeface="Arial"/>
                <a:cs typeface="Arial"/>
                <a:sym typeface="Arial"/>
              </a:rPr>
              <a:t>HYPOTHESES</a:t>
            </a:r>
            <a:endParaRPr sz="1600"/>
          </a:p>
        </p:txBody>
      </p:sp>
      <p:sp>
        <p:nvSpPr>
          <p:cNvPr id="228" name="Google Shape;228;h2994f3393d0b2db_0_119"/>
          <p:cNvSpPr txBox="1"/>
          <p:nvPr/>
        </p:nvSpPr>
        <p:spPr>
          <a:xfrm>
            <a:off x="1188728" y="2944375"/>
            <a:ext cx="658500" cy="354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700" b="1" i="0" u="none" strike="noStrike" cap="none">
                <a:solidFill>
                  <a:srgbClr val="427D52"/>
                </a:solidFill>
                <a:latin typeface="Arial"/>
                <a:ea typeface="Arial"/>
                <a:cs typeface="Arial"/>
                <a:sym typeface="Arial"/>
              </a:rPr>
              <a:t>H₀:</a:t>
            </a:r>
            <a:endParaRPr/>
          </a:p>
        </p:txBody>
      </p:sp>
      <p:sp>
        <p:nvSpPr>
          <p:cNvPr id="229" name="Google Shape;229;h2994f3393d0b2db_0_119"/>
          <p:cNvSpPr txBox="1"/>
          <p:nvPr/>
        </p:nvSpPr>
        <p:spPr>
          <a:xfrm>
            <a:off x="2011795" y="2956468"/>
            <a:ext cx="2560200" cy="338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i="0" u="none" strike="noStrike" cap="none">
                <a:solidFill>
                  <a:srgbClr val="184168"/>
                </a:solidFill>
                <a:latin typeface="Arial"/>
                <a:ea typeface="Arial"/>
                <a:cs typeface="Arial"/>
                <a:sym typeface="Arial"/>
              </a:rPr>
              <a:t>μΔ,Higher = μΔ,Lower</a:t>
            </a:r>
            <a:endParaRPr/>
          </a:p>
        </p:txBody>
      </p:sp>
      <p:sp>
        <p:nvSpPr>
          <p:cNvPr id="230" name="Google Shape;230;h2994f3393d0b2db_0_119"/>
          <p:cNvSpPr txBox="1"/>
          <p:nvPr/>
        </p:nvSpPr>
        <p:spPr>
          <a:xfrm>
            <a:off x="1188728" y="3337560"/>
            <a:ext cx="658500" cy="354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700" b="1" i="0" u="none" strike="noStrike" cap="none">
                <a:solidFill>
                  <a:srgbClr val="427D52"/>
                </a:solidFill>
                <a:latin typeface="Arial"/>
                <a:ea typeface="Arial"/>
                <a:cs typeface="Arial"/>
                <a:sym typeface="Arial"/>
              </a:rPr>
              <a:t>Hₐ:</a:t>
            </a:r>
            <a:endParaRPr/>
          </a:p>
        </p:txBody>
      </p:sp>
      <p:sp>
        <p:nvSpPr>
          <p:cNvPr id="231" name="Google Shape;231;h2994f3393d0b2db_0_119"/>
          <p:cNvSpPr txBox="1"/>
          <p:nvPr/>
        </p:nvSpPr>
        <p:spPr>
          <a:xfrm>
            <a:off x="2011795" y="3349660"/>
            <a:ext cx="2560200" cy="338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i="0" u="none" strike="noStrike" cap="none">
                <a:solidFill>
                  <a:srgbClr val="184168"/>
                </a:solidFill>
                <a:latin typeface="Arial"/>
                <a:ea typeface="Arial"/>
                <a:cs typeface="Arial"/>
                <a:sym typeface="Arial"/>
              </a:rPr>
              <a:t>μΔ,Higher ≠ μΔ,Lower</a:t>
            </a:r>
            <a:endParaRPr/>
          </a:p>
        </p:txBody>
      </p:sp>
      <p:sp>
        <p:nvSpPr>
          <p:cNvPr id="232" name="Google Shape;232;h2994f3393d0b2db_0_119"/>
          <p:cNvSpPr/>
          <p:nvPr/>
        </p:nvSpPr>
        <p:spPr>
          <a:xfrm>
            <a:off x="5744600" y="2148900"/>
            <a:ext cx="5594100" cy="1986600"/>
          </a:xfrm>
          <a:prstGeom prst="roundRect">
            <a:avLst>
              <a:gd name="adj" fmla="val 16667"/>
            </a:avLst>
          </a:prstGeom>
          <a:solidFill>
            <a:srgbClr val="EFF6F0"/>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rgbClr val="000000"/>
              </a:buClr>
              <a:buFont typeface="Arial"/>
              <a:buNone/>
            </a:pPr>
            <a:endParaRPr sz="1800" b="0" i="0" u="none" strike="noStrike" cap="none">
              <a:solidFill>
                <a:srgbClr val="000000"/>
              </a:solidFill>
              <a:latin typeface="Calibri"/>
              <a:ea typeface="Calibri"/>
              <a:cs typeface="Calibri"/>
              <a:sym typeface="Calibri"/>
            </a:endParaRPr>
          </a:p>
        </p:txBody>
      </p:sp>
      <p:sp>
        <p:nvSpPr>
          <p:cNvPr id="233" name="Google Shape;233;h2994f3393d0b2db_0_119"/>
          <p:cNvSpPr txBox="1"/>
          <p:nvPr/>
        </p:nvSpPr>
        <p:spPr>
          <a:xfrm>
            <a:off x="5844489" y="2432863"/>
            <a:ext cx="2743200" cy="338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i="0" u="none" strike="noStrike" cap="none">
                <a:solidFill>
                  <a:srgbClr val="427D52"/>
                </a:solidFill>
                <a:latin typeface="Arial"/>
                <a:ea typeface="Arial"/>
                <a:cs typeface="Arial"/>
                <a:sym typeface="Arial"/>
              </a:rPr>
              <a:t>STATISTICAL RESULTS</a:t>
            </a:r>
            <a:endParaRPr sz="1600"/>
          </a:p>
        </p:txBody>
      </p:sp>
      <p:sp>
        <p:nvSpPr>
          <p:cNvPr id="234" name="Google Shape;234;h2994f3393d0b2db_0_119"/>
          <p:cNvSpPr txBox="1"/>
          <p:nvPr/>
        </p:nvSpPr>
        <p:spPr>
          <a:xfrm>
            <a:off x="5844489" y="2815541"/>
            <a:ext cx="2377500" cy="338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i="0" u="none" strike="noStrike" cap="none">
                <a:solidFill>
                  <a:srgbClr val="184168"/>
                </a:solidFill>
                <a:latin typeface="Arial"/>
                <a:ea typeface="Arial"/>
                <a:cs typeface="Arial"/>
                <a:sym typeface="Arial"/>
              </a:rPr>
              <a:t>Welch t-test</a:t>
            </a:r>
            <a:endParaRPr/>
          </a:p>
        </p:txBody>
      </p:sp>
      <p:sp>
        <p:nvSpPr>
          <p:cNvPr id="235" name="Google Shape;235;h2994f3393d0b2db_0_119"/>
          <p:cNvSpPr txBox="1"/>
          <p:nvPr/>
        </p:nvSpPr>
        <p:spPr>
          <a:xfrm>
            <a:off x="8595428" y="2798566"/>
            <a:ext cx="2743200" cy="338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i="0" u="none" strike="noStrike" cap="none">
                <a:solidFill>
                  <a:srgbClr val="48525C"/>
                </a:solidFill>
                <a:latin typeface="Arial"/>
                <a:ea typeface="Arial"/>
                <a:cs typeface="Arial"/>
                <a:sym typeface="Arial"/>
              </a:rPr>
              <a:t>t = −4.20  •  p ≈ 0.00007</a:t>
            </a:r>
            <a:endParaRPr/>
          </a:p>
        </p:txBody>
      </p:sp>
      <p:sp>
        <p:nvSpPr>
          <p:cNvPr id="236" name="Google Shape;236;h2994f3393d0b2db_0_119"/>
          <p:cNvSpPr txBox="1"/>
          <p:nvPr/>
        </p:nvSpPr>
        <p:spPr>
          <a:xfrm>
            <a:off x="5844489" y="3132464"/>
            <a:ext cx="2377500" cy="338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i="0" u="none" strike="noStrike" cap="none">
                <a:solidFill>
                  <a:srgbClr val="184168"/>
                </a:solidFill>
                <a:latin typeface="Arial"/>
                <a:ea typeface="Arial"/>
                <a:cs typeface="Arial"/>
                <a:sym typeface="Arial"/>
              </a:rPr>
              <a:t>Permutation test</a:t>
            </a:r>
            <a:endParaRPr/>
          </a:p>
        </p:txBody>
      </p:sp>
      <p:sp>
        <p:nvSpPr>
          <p:cNvPr id="237" name="Google Shape;237;h2994f3393d0b2db_0_119"/>
          <p:cNvSpPr txBox="1"/>
          <p:nvPr/>
        </p:nvSpPr>
        <p:spPr>
          <a:xfrm>
            <a:off x="8595428" y="3115489"/>
            <a:ext cx="2743200" cy="338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i="0" u="none" strike="noStrike" cap="none">
                <a:solidFill>
                  <a:srgbClr val="48525C"/>
                </a:solidFill>
                <a:latin typeface="Arial"/>
                <a:ea typeface="Arial"/>
                <a:cs typeface="Arial"/>
                <a:sym typeface="Arial"/>
              </a:rPr>
              <a:t>p ≈ 0.0005</a:t>
            </a:r>
            <a:endParaRPr/>
          </a:p>
        </p:txBody>
      </p:sp>
      <p:sp>
        <p:nvSpPr>
          <p:cNvPr id="238" name="Google Shape;238;h2994f3393d0b2db_0_119"/>
          <p:cNvSpPr txBox="1"/>
          <p:nvPr/>
        </p:nvSpPr>
        <p:spPr>
          <a:xfrm>
            <a:off x="928225" y="4376100"/>
            <a:ext cx="3999000"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0" u="none" strike="noStrike" cap="none">
                <a:solidFill>
                  <a:srgbClr val="427D52"/>
                </a:solidFill>
                <a:latin typeface="Arial"/>
                <a:ea typeface="Arial"/>
                <a:cs typeface="Arial"/>
                <a:sym typeface="Arial"/>
              </a:rPr>
              <a:t>WHAT THIS MEANS</a:t>
            </a:r>
            <a:endParaRPr sz="2000"/>
          </a:p>
        </p:txBody>
      </p:sp>
      <p:sp>
        <p:nvSpPr>
          <p:cNvPr id="239" name="Google Shape;239;h2994f3393d0b2db_0_119"/>
          <p:cNvSpPr txBox="1"/>
          <p:nvPr/>
        </p:nvSpPr>
        <p:spPr>
          <a:xfrm>
            <a:off x="1188726" y="2651750"/>
            <a:ext cx="3738600" cy="292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b="1" i="0" u="none" strike="noStrike" cap="none">
                <a:solidFill>
                  <a:srgbClr val="48525C"/>
                </a:solidFill>
                <a:latin typeface="Arial"/>
                <a:ea typeface="Arial"/>
                <a:cs typeface="Arial"/>
                <a:sym typeface="Arial"/>
              </a:rPr>
              <a:t>Δ Energy = Energy Use₂₀₂₁ − Energy Use₂₀₁₀</a:t>
            </a:r>
            <a:endParaRPr/>
          </a:p>
        </p:txBody>
      </p:sp>
      <p:sp>
        <p:nvSpPr>
          <p:cNvPr id="240" name="Google Shape;240;h2994f3393d0b2db_0_119"/>
          <p:cNvSpPr/>
          <p:nvPr/>
        </p:nvSpPr>
        <p:spPr>
          <a:xfrm>
            <a:off x="928225" y="4866750"/>
            <a:ext cx="10410300" cy="1690800"/>
          </a:xfrm>
          <a:prstGeom prst="roundRect">
            <a:avLst>
              <a:gd name="adj" fmla="val 16667"/>
            </a:avLst>
          </a:prstGeom>
          <a:solidFill>
            <a:srgbClr val="FFF2CC"/>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457200" lvl="0" indent="-342900" algn="l" rtl="0">
              <a:spcBef>
                <a:spcPts val="0"/>
              </a:spcBef>
              <a:spcAft>
                <a:spcPts val="0"/>
              </a:spcAft>
              <a:buClr>
                <a:srgbClr val="184168"/>
              </a:buClr>
              <a:buSzPts val="1800"/>
              <a:buChar char="●"/>
            </a:pPr>
            <a:r>
              <a:rPr lang="en-US" sz="1800" b="1">
                <a:solidFill>
                  <a:srgbClr val="184168"/>
                </a:solidFill>
              </a:rPr>
              <a:t>There is sufficient evidence that mean energy-use change differs between the two initial-development groups.</a:t>
            </a:r>
            <a:endParaRPr sz="1800" b="1">
              <a:solidFill>
                <a:srgbClr val="184168"/>
              </a:solidFill>
            </a:endParaRPr>
          </a:p>
          <a:p>
            <a:pPr marL="457200" lvl="0" indent="-330200" algn="l" rtl="0">
              <a:spcBef>
                <a:spcPts val="0"/>
              </a:spcBef>
              <a:spcAft>
                <a:spcPts val="0"/>
              </a:spcAft>
              <a:buClr>
                <a:srgbClr val="48525C"/>
              </a:buClr>
              <a:buSzPts val="1600"/>
              <a:buChar char="●"/>
            </a:pPr>
            <a:r>
              <a:rPr lang="en-US" sz="1800" b="1">
                <a:solidFill>
                  <a:srgbClr val="184168"/>
                </a:solidFill>
              </a:rPr>
              <a:t>Higher-development countries decreased on average, while lower-development countries increased.</a:t>
            </a:r>
            <a:endParaRPr sz="1800" b="1">
              <a:solidFill>
                <a:srgbClr val="184168"/>
              </a:solidFill>
            </a:endParaRPr>
          </a:p>
        </p:txBody>
      </p:sp>
      <p:sp>
        <p:nvSpPr>
          <p:cNvPr id="241" name="Google Shape;241;h2994f3393d0b2db_0_119"/>
          <p:cNvSpPr txBox="1"/>
          <p:nvPr/>
        </p:nvSpPr>
        <p:spPr>
          <a:xfrm>
            <a:off x="5844502" y="3471175"/>
            <a:ext cx="2743200" cy="338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rgbClr val="184168"/>
                </a:solidFill>
              </a:rPr>
              <a:t>95% CI (Higher - Lower)</a:t>
            </a:r>
            <a:endParaRPr/>
          </a:p>
        </p:txBody>
      </p:sp>
      <p:sp>
        <p:nvSpPr>
          <p:cNvPr id="242" name="Google Shape;242;h2994f3393d0b2db_0_119"/>
          <p:cNvSpPr txBox="1"/>
          <p:nvPr/>
        </p:nvSpPr>
        <p:spPr>
          <a:xfrm>
            <a:off x="8588500" y="3471175"/>
            <a:ext cx="2865000" cy="33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Font typeface="Arial"/>
              <a:buNone/>
            </a:pPr>
            <a:r>
              <a:rPr lang="en-US" sz="1600" b="1">
                <a:solidFill>
                  <a:srgbClr val="48525C"/>
                </a:solidFill>
              </a:rPr>
              <a:t>[-836.7039 and -298.2768]</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h2994f3393d0b2db_0_129"/>
          <p:cNvSpPr txBox="1">
            <a:spLocks noGrp="1"/>
          </p:cNvSpPr>
          <p:nvPr>
            <p:ph type="title"/>
          </p:nvPr>
        </p:nvSpPr>
        <p:spPr>
          <a:xfrm>
            <a:off x="457200" y="274638"/>
            <a:ext cx="8229600" cy="11430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endParaRPr/>
          </a:p>
        </p:txBody>
      </p:sp>
      <p:sp>
        <p:nvSpPr>
          <p:cNvPr id="248" name="Google Shape;248;h2994f3393d0b2db_0_129"/>
          <p:cNvSpPr txBox="1">
            <a:spLocks noGrp="1"/>
          </p:cNvSpPr>
          <p:nvPr>
            <p:ph type="body" idx="1"/>
          </p:nvPr>
        </p:nvSpPr>
        <p:spPr>
          <a:xfrm>
            <a:off x="457200" y="1600200"/>
            <a:ext cx="8229600" cy="4526100"/>
          </a:xfrm>
          <a:prstGeom prst="rect">
            <a:avLst/>
          </a:prstGeom>
        </p:spPr>
        <p:txBody>
          <a:bodyPr spcFirstLastPara="1" wrap="square" lIns="91425" tIns="45700" rIns="91425" bIns="45700" anchor="t" anchorCtr="0">
            <a:normAutofit/>
          </a:bodyPr>
          <a:lstStyle/>
          <a:p>
            <a:pPr marL="0" lvl="0" indent="0" algn="l" rtl="0">
              <a:spcBef>
                <a:spcPts val="360"/>
              </a:spcBef>
              <a:spcAft>
                <a:spcPts val="0"/>
              </a:spcAft>
              <a:buNone/>
            </a:pPr>
            <a:endParaRPr/>
          </a:p>
        </p:txBody>
      </p:sp>
      <p:sp>
        <p:nvSpPr>
          <p:cNvPr id="249" name="Google Shape;249;h2994f3393d0b2db_0_129"/>
          <p:cNvSpPr/>
          <p:nvPr/>
        </p:nvSpPr>
        <p:spPr>
          <a:xfrm>
            <a:off x="-12" y="0"/>
            <a:ext cx="12191700" cy="6858000"/>
          </a:xfrm>
          <a:prstGeom prst="rect">
            <a:avLst/>
          </a:prstGeom>
          <a:solidFill>
            <a:srgbClr val="FBFAF7"/>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250" name="Google Shape;250;h2994f3393d0b2db_0_129"/>
          <p:cNvSpPr txBox="1"/>
          <p:nvPr/>
        </p:nvSpPr>
        <p:spPr>
          <a:xfrm>
            <a:off x="868680" y="502920"/>
            <a:ext cx="102414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84168"/>
                </a:solidFill>
                <a:latin typeface="Play"/>
                <a:ea typeface="Play"/>
                <a:cs typeface="Play"/>
                <a:sym typeface="Play"/>
              </a:rPr>
              <a:t>RQ1 — Sensitivity Analysis</a:t>
            </a:r>
            <a:endParaRPr/>
          </a:p>
        </p:txBody>
      </p:sp>
      <p:sp>
        <p:nvSpPr>
          <p:cNvPr id="251" name="Google Shape;251;h2994f3393d0b2db_0_129"/>
          <p:cNvSpPr txBox="1"/>
          <p:nvPr/>
        </p:nvSpPr>
        <p:spPr>
          <a:xfrm>
            <a:off x="868680" y="1188720"/>
            <a:ext cx="9875400" cy="354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700" b="0" i="0" u="none" strike="noStrike" cap="none">
                <a:solidFill>
                  <a:srgbClr val="48525C"/>
                </a:solidFill>
                <a:latin typeface="Arial"/>
                <a:ea typeface="Arial"/>
                <a:cs typeface="Arial"/>
                <a:sym typeface="Arial"/>
              </a:rPr>
              <a:t>Does the same pattern remain when the pandemic years are excluded?</a:t>
            </a:r>
            <a:endParaRPr/>
          </a:p>
        </p:txBody>
      </p:sp>
      <p:sp>
        <p:nvSpPr>
          <p:cNvPr id="252" name="Google Shape;252;h2994f3393d0b2db_0_129"/>
          <p:cNvSpPr/>
          <p:nvPr/>
        </p:nvSpPr>
        <p:spPr>
          <a:xfrm>
            <a:off x="868680" y="1682496"/>
            <a:ext cx="640200" cy="41100"/>
          </a:xfrm>
          <a:prstGeom prst="rect">
            <a:avLst/>
          </a:prstGeom>
          <a:solidFill>
            <a:srgbClr val="427D52"/>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253" name="Google Shape;253;h2994f3393d0b2db_0_129"/>
          <p:cNvSpPr txBox="1"/>
          <p:nvPr/>
        </p:nvSpPr>
        <p:spPr>
          <a:xfrm>
            <a:off x="868680" y="1993392"/>
            <a:ext cx="10058400" cy="5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0" i="0" u="none" strike="noStrike" cap="none">
                <a:solidFill>
                  <a:srgbClr val="707A82"/>
                </a:solidFill>
                <a:latin typeface="Arial"/>
                <a:ea typeface="Arial"/>
                <a:cs typeface="Arial"/>
                <a:sym typeface="Arial"/>
              </a:rPr>
              <a:t>We repeated the analysis using 2010 → 2019, while keeping the same development groups based on 2010 GDP per capita.</a:t>
            </a:r>
            <a:endParaRPr/>
          </a:p>
        </p:txBody>
      </p:sp>
      <p:sp>
        <p:nvSpPr>
          <p:cNvPr id="254" name="Google Shape;254;h2994f3393d0b2db_0_129"/>
          <p:cNvSpPr/>
          <p:nvPr/>
        </p:nvSpPr>
        <p:spPr>
          <a:xfrm>
            <a:off x="1051560" y="3840480"/>
            <a:ext cx="9784200" cy="22800"/>
          </a:xfrm>
          <a:prstGeom prst="rect">
            <a:avLst/>
          </a:prstGeom>
          <a:solidFill>
            <a:srgbClr val="DAE1DD"/>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255" name="Google Shape;255;h2994f3393d0b2db_0_129"/>
          <p:cNvSpPr txBox="1"/>
          <p:nvPr/>
        </p:nvSpPr>
        <p:spPr>
          <a:xfrm>
            <a:off x="1051560" y="2651760"/>
            <a:ext cx="2011800" cy="338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i="0" u="none" strike="noStrike" cap="none">
                <a:solidFill>
                  <a:srgbClr val="184168"/>
                </a:solidFill>
                <a:latin typeface="Arial"/>
                <a:ea typeface="Arial"/>
                <a:cs typeface="Arial"/>
                <a:sym typeface="Arial"/>
              </a:rPr>
              <a:t>2010 → 2021</a:t>
            </a:r>
            <a:endParaRPr/>
          </a:p>
        </p:txBody>
      </p:sp>
      <p:sp>
        <p:nvSpPr>
          <p:cNvPr id="256" name="Google Shape;256;h2994f3393d0b2db_0_129"/>
          <p:cNvSpPr txBox="1"/>
          <p:nvPr/>
        </p:nvSpPr>
        <p:spPr>
          <a:xfrm>
            <a:off x="1051560" y="3054096"/>
            <a:ext cx="2011800" cy="338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i="0" u="none" strike="noStrike" cap="none">
                <a:solidFill>
                  <a:srgbClr val="427D52"/>
                </a:solidFill>
                <a:latin typeface="Arial"/>
                <a:ea typeface="Arial"/>
                <a:cs typeface="Arial"/>
                <a:sym typeface="Arial"/>
              </a:rPr>
              <a:t>2010 → 2019</a:t>
            </a:r>
            <a:endParaRPr/>
          </a:p>
        </p:txBody>
      </p:sp>
      <p:sp>
        <p:nvSpPr>
          <p:cNvPr id="257" name="Google Shape;257;h2994f3393d0b2db_0_129"/>
          <p:cNvSpPr/>
          <p:nvPr/>
        </p:nvSpPr>
        <p:spPr>
          <a:xfrm>
            <a:off x="3063240" y="2633472"/>
            <a:ext cx="5669400" cy="365700"/>
          </a:xfrm>
          <a:prstGeom prst="roundRect">
            <a:avLst>
              <a:gd name="adj" fmla="val 16667"/>
            </a:avLst>
          </a:prstGeom>
          <a:solidFill>
            <a:srgbClr val="184168"/>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258" name="Google Shape;258;h2994f3393d0b2db_0_129"/>
          <p:cNvSpPr/>
          <p:nvPr/>
        </p:nvSpPr>
        <p:spPr>
          <a:xfrm>
            <a:off x="3063240" y="3035808"/>
            <a:ext cx="4728000" cy="365700"/>
          </a:xfrm>
          <a:prstGeom prst="roundRect">
            <a:avLst>
              <a:gd name="adj" fmla="val 16667"/>
            </a:avLst>
          </a:prstGeom>
          <a:solidFill>
            <a:srgbClr val="427D52"/>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259" name="Google Shape;259;h2994f3393d0b2db_0_129"/>
          <p:cNvSpPr txBox="1"/>
          <p:nvPr/>
        </p:nvSpPr>
        <p:spPr>
          <a:xfrm>
            <a:off x="8887968" y="2660904"/>
            <a:ext cx="1600200" cy="3231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500" b="1" i="0" u="none" strike="noStrike" cap="none">
                <a:solidFill>
                  <a:srgbClr val="184168"/>
                </a:solidFill>
                <a:latin typeface="Arial"/>
                <a:ea typeface="Arial"/>
                <a:cs typeface="Arial"/>
                <a:sym typeface="Arial"/>
              </a:rPr>
              <a:t>−567.49 kg</a:t>
            </a:r>
            <a:endParaRPr/>
          </a:p>
        </p:txBody>
      </p:sp>
      <p:sp>
        <p:nvSpPr>
          <p:cNvPr id="260" name="Google Shape;260;h2994f3393d0b2db_0_129"/>
          <p:cNvSpPr txBox="1"/>
          <p:nvPr/>
        </p:nvSpPr>
        <p:spPr>
          <a:xfrm>
            <a:off x="8275320" y="3063240"/>
            <a:ext cx="2212800" cy="3231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500" b="1" i="0" u="none" strike="noStrike" cap="none">
                <a:solidFill>
                  <a:srgbClr val="427D52"/>
                </a:solidFill>
                <a:latin typeface="Arial"/>
                <a:ea typeface="Arial"/>
                <a:cs typeface="Arial"/>
                <a:sym typeface="Arial"/>
              </a:rPr>
              <a:t>−473.26 kg</a:t>
            </a:r>
            <a:endParaRPr/>
          </a:p>
        </p:txBody>
      </p:sp>
      <p:sp>
        <p:nvSpPr>
          <p:cNvPr id="261" name="Google Shape;261;h2994f3393d0b2db_0_129"/>
          <p:cNvSpPr txBox="1"/>
          <p:nvPr/>
        </p:nvSpPr>
        <p:spPr>
          <a:xfrm>
            <a:off x="3063240" y="3529584"/>
            <a:ext cx="5760600" cy="292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b="0" i="0" u="none" strike="noStrike" cap="none">
                <a:solidFill>
                  <a:srgbClr val="707A82"/>
                </a:solidFill>
                <a:latin typeface="Arial"/>
                <a:ea typeface="Arial"/>
                <a:cs typeface="Arial"/>
                <a:sym typeface="Arial"/>
              </a:rPr>
              <a:t>Difference in mean energy-use change (Higher − Lower)</a:t>
            </a:r>
            <a:endParaRPr/>
          </a:p>
        </p:txBody>
      </p:sp>
      <p:sp>
        <p:nvSpPr>
          <p:cNvPr id="262" name="Google Shape;262;h2994f3393d0b2db_0_129"/>
          <p:cNvSpPr txBox="1"/>
          <p:nvPr/>
        </p:nvSpPr>
        <p:spPr>
          <a:xfrm>
            <a:off x="868674" y="4060363"/>
            <a:ext cx="2957100" cy="354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700" b="1" i="0" u="none" strike="noStrike" cap="none">
                <a:solidFill>
                  <a:srgbClr val="427D52"/>
                </a:solidFill>
                <a:latin typeface="Arial"/>
                <a:ea typeface="Arial"/>
                <a:cs typeface="Arial"/>
                <a:sym typeface="Arial"/>
              </a:rPr>
              <a:t>2010 → 2019 EVIDENCE</a:t>
            </a:r>
            <a:endParaRPr sz="1700"/>
          </a:p>
        </p:txBody>
      </p:sp>
      <p:sp>
        <p:nvSpPr>
          <p:cNvPr id="263" name="Google Shape;263;h2994f3393d0b2db_0_129"/>
          <p:cNvSpPr txBox="1"/>
          <p:nvPr/>
        </p:nvSpPr>
        <p:spPr>
          <a:xfrm>
            <a:off x="868680" y="4483851"/>
            <a:ext cx="9875400" cy="338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i="0" u="none" strike="noStrike" cap="none">
                <a:solidFill>
                  <a:srgbClr val="184168"/>
                </a:solidFill>
                <a:latin typeface="Arial"/>
                <a:ea typeface="Arial"/>
                <a:cs typeface="Arial"/>
                <a:sym typeface="Arial"/>
              </a:rPr>
              <a:t>Welch t-test:  p ≈ 0.0003     •     Permutation test:  p = 0.0005     •     95% CI:  [−719.11, −227.42] kg</a:t>
            </a:r>
            <a:endParaRPr/>
          </a:p>
        </p:txBody>
      </p:sp>
      <p:sp>
        <p:nvSpPr>
          <p:cNvPr id="264" name="Google Shape;264;h2994f3393d0b2db_0_129"/>
          <p:cNvSpPr txBox="1"/>
          <p:nvPr/>
        </p:nvSpPr>
        <p:spPr>
          <a:xfrm>
            <a:off x="868675" y="5156250"/>
            <a:ext cx="2957100" cy="446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300" b="1" i="0" u="none" strike="noStrike" cap="none">
                <a:solidFill>
                  <a:srgbClr val="427D52"/>
                </a:solidFill>
                <a:latin typeface="Arial"/>
                <a:ea typeface="Arial"/>
                <a:cs typeface="Arial"/>
                <a:sym typeface="Arial"/>
              </a:rPr>
              <a:t>WHAT THIS MEANS</a:t>
            </a:r>
            <a:endParaRPr sz="2300"/>
          </a:p>
        </p:txBody>
      </p:sp>
      <p:sp>
        <p:nvSpPr>
          <p:cNvPr id="265" name="Google Shape;265;h2994f3393d0b2db_0_129"/>
          <p:cNvSpPr txBox="1"/>
          <p:nvPr/>
        </p:nvSpPr>
        <p:spPr>
          <a:xfrm>
            <a:off x="868675" y="5637975"/>
            <a:ext cx="10810200"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0" u="none" strike="noStrike" cap="none">
                <a:solidFill>
                  <a:srgbClr val="184168"/>
                </a:solidFill>
                <a:latin typeface="Arial"/>
                <a:ea typeface="Arial"/>
                <a:cs typeface="Arial"/>
                <a:sym typeface="Arial"/>
              </a:rPr>
              <a:t>The gap becomes smaller, but the direction and statistical conclusion remain the same.</a:t>
            </a:r>
            <a:endParaRPr/>
          </a:p>
        </p:txBody>
      </p:sp>
      <p:sp>
        <p:nvSpPr>
          <p:cNvPr id="266" name="Google Shape;266;h2994f3393d0b2db_0_129"/>
          <p:cNvSpPr txBox="1"/>
          <p:nvPr/>
        </p:nvSpPr>
        <p:spPr>
          <a:xfrm>
            <a:off x="868675" y="5974788"/>
            <a:ext cx="11165400"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184168"/>
                </a:solidFill>
              </a:rPr>
              <a:t>The difference in energy-use paths was already present before the 2020–2021 pandemic period</a:t>
            </a:r>
            <a:r>
              <a:rPr lang="en-US" sz="1650" i="0" u="none" strike="noStrike" cap="none">
                <a:solidFill>
                  <a:srgbClr val="48525C"/>
                </a:solidFill>
              </a:rPr>
              <a:t>.</a:t>
            </a:r>
            <a:endParaRPr sz="1500"/>
          </a:p>
        </p:txBody>
      </p:sp>
      <p:sp>
        <p:nvSpPr>
          <p:cNvPr id="267" name="Google Shape;267;h2994f3393d0b2db_0_129"/>
          <p:cNvSpPr txBox="1"/>
          <p:nvPr/>
        </p:nvSpPr>
        <p:spPr>
          <a:xfrm>
            <a:off x="11018536" y="6473950"/>
            <a:ext cx="1015500" cy="2769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200" b="1">
                <a:solidFill>
                  <a:srgbClr val="184168"/>
                </a:solidFill>
              </a:rPr>
              <a:t>7</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h2994f3393d0b2db_0_134"/>
          <p:cNvSpPr txBox="1">
            <a:spLocks noGrp="1"/>
          </p:cNvSpPr>
          <p:nvPr>
            <p:ph type="title"/>
          </p:nvPr>
        </p:nvSpPr>
        <p:spPr>
          <a:xfrm>
            <a:off x="457200" y="274638"/>
            <a:ext cx="8229600" cy="11430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endParaRPr/>
          </a:p>
        </p:txBody>
      </p:sp>
      <p:sp>
        <p:nvSpPr>
          <p:cNvPr id="273" name="Google Shape;273;h2994f3393d0b2db_0_134"/>
          <p:cNvSpPr txBox="1">
            <a:spLocks noGrp="1"/>
          </p:cNvSpPr>
          <p:nvPr>
            <p:ph type="body" idx="1"/>
          </p:nvPr>
        </p:nvSpPr>
        <p:spPr>
          <a:xfrm>
            <a:off x="457200" y="1600200"/>
            <a:ext cx="8229600" cy="4526100"/>
          </a:xfrm>
          <a:prstGeom prst="rect">
            <a:avLst/>
          </a:prstGeom>
        </p:spPr>
        <p:txBody>
          <a:bodyPr spcFirstLastPara="1" wrap="square" lIns="91425" tIns="45700" rIns="91425" bIns="45700" anchor="t" anchorCtr="0">
            <a:normAutofit/>
          </a:bodyPr>
          <a:lstStyle/>
          <a:p>
            <a:pPr marL="0" lvl="0" indent="0" algn="l" rtl="0">
              <a:spcBef>
                <a:spcPts val="360"/>
              </a:spcBef>
              <a:spcAft>
                <a:spcPts val="0"/>
              </a:spcAft>
              <a:buNone/>
            </a:pPr>
            <a:endParaRPr/>
          </a:p>
        </p:txBody>
      </p:sp>
      <p:sp>
        <p:nvSpPr>
          <p:cNvPr id="274" name="Google Shape;274;h2994f3393d0b2db_0_134"/>
          <p:cNvSpPr/>
          <p:nvPr/>
        </p:nvSpPr>
        <p:spPr>
          <a:xfrm>
            <a:off x="0" y="0"/>
            <a:ext cx="12191700" cy="6858000"/>
          </a:xfrm>
          <a:prstGeom prst="rect">
            <a:avLst/>
          </a:prstGeom>
          <a:solidFill>
            <a:srgbClr val="FBFAF7"/>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275" name="Google Shape;275;h2994f3393d0b2db_0_134"/>
          <p:cNvSpPr txBox="1"/>
          <p:nvPr/>
        </p:nvSpPr>
        <p:spPr>
          <a:xfrm>
            <a:off x="868680" y="438912"/>
            <a:ext cx="10332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84168"/>
                </a:solidFill>
                <a:latin typeface="Play"/>
                <a:ea typeface="Play"/>
                <a:cs typeface="Play"/>
                <a:sym typeface="Play"/>
              </a:rPr>
              <a:t>RQ2 — Exploring Energy &amp; GDP in 2021</a:t>
            </a:r>
            <a:endParaRPr/>
          </a:p>
        </p:txBody>
      </p:sp>
      <p:sp>
        <p:nvSpPr>
          <p:cNvPr id="276" name="Google Shape;276;h2994f3393d0b2db_0_134"/>
          <p:cNvSpPr txBox="1"/>
          <p:nvPr/>
        </p:nvSpPr>
        <p:spPr>
          <a:xfrm>
            <a:off x="868680" y="1115568"/>
            <a:ext cx="10058400" cy="354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700" b="0" i="0" u="none" strike="noStrike" cap="none">
                <a:solidFill>
                  <a:srgbClr val="48525C"/>
                </a:solidFill>
                <a:latin typeface="Arial"/>
                <a:ea typeface="Arial"/>
                <a:cs typeface="Arial"/>
                <a:sym typeface="Arial"/>
              </a:rPr>
              <a:t>The distributions are strongly right-skewed, while the two variables show a positive association.</a:t>
            </a:r>
            <a:endParaRPr/>
          </a:p>
        </p:txBody>
      </p:sp>
      <p:sp>
        <p:nvSpPr>
          <p:cNvPr id="277" name="Google Shape;277;h2994f3393d0b2db_0_134"/>
          <p:cNvSpPr/>
          <p:nvPr/>
        </p:nvSpPr>
        <p:spPr>
          <a:xfrm>
            <a:off x="868680" y="1572768"/>
            <a:ext cx="640200" cy="41100"/>
          </a:xfrm>
          <a:prstGeom prst="rect">
            <a:avLst/>
          </a:prstGeom>
          <a:solidFill>
            <a:srgbClr val="427D52"/>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278" name="Google Shape;278;h2994f3393d0b2db_0_134"/>
          <p:cNvSpPr txBox="1"/>
          <p:nvPr/>
        </p:nvSpPr>
        <p:spPr>
          <a:xfrm>
            <a:off x="777240" y="1810512"/>
            <a:ext cx="2743200" cy="300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50" b="1" i="0" u="none" strike="noStrike" cap="none">
                <a:solidFill>
                  <a:srgbClr val="427D52"/>
                </a:solidFill>
                <a:latin typeface="Arial"/>
                <a:ea typeface="Arial"/>
                <a:cs typeface="Arial"/>
                <a:sym typeface="Arial"/>
              </a:rPr>
              <a:t>ENERGY USE PER CAPITA</a:t>
            </a:r>
            <a:endParaRPr/>
          </a:p>
        </p:txBody>
      </p:sp>
      <p:sp>
        <p:nvSpPr>
          <p:cNvPr id="279" name="Google Shape;279;h2994f3393d0b2db_0_134"/>
          <p:cNvSpPr txBox="1"/>
          <p:nvPr/>
        </p:nvSpPr>
        <p:spPr>
          <a:xfrm>
            <a:off x="4087368" y="1810512"/>
            <a:ext cx="2743200" cy="300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50" b="1" i="0" u="none" strike="noStrike" cap="none">
                <a:solidFill>
                  <a:srgbClr val="184168"/>
                </a:solidFill>
                <a:latin typeface="Arial"/>
                <a:ea typeface="Arial"/>
                <a:cs typeface="Arial"/>
                <a:sym typeface="Arial"/>
              </a:rPr>
              <a:t>GDP PER CAPITA</a:t>
            </a:r>
            <a:endParaRPr/>
          </a:p>
        </p:txBody>
      </p:sp>
      <p:pic>
        <p:nvPicPr>
          <p:cNvPr id="280" name="Google Shape;280;h2994f3393d0b2db_0_134" descr="image6.png"/>
          <p:cNvPicPr preferRelativeResize="0"/>
          <p:nvPr/>
        </p:nvPicPr>
        <p:blipFill rotWithShape="1">
          <a:blip r:embed="rId3">
            <a:alphaModFix/>
          </a:blip>
          <a:srcRect/>
          <a:stretch/>
        </p:blipFill>
        <p:spPr>
          <a:xfrm>
            <a:off x="685800" y="2084831"/>
            <a:ext cx="3337560" cy="2148840"/>
          </a:xfrm>
          <a:prstGeom prst="rect">
            <a:avLst/>
          </a:prstGeom>
          <a:noFill/>
          <a:ln>
            <a:noFill/>
          </a:ln>
        </p:spPr>
      </p:pic>
      <p:pic>
        <p:nvPicPr>
          <p:cNvPr id="281" name="Google Shape;281;h2994f3393d0b2db_0_134" descr="image1.png"/>
          <p:cNvPicPr preferRelativeResize="0"/>
          <p:nvPr/>
        </p:nvPicPr>
        <p:blipFill rotWithShape="1">
          <a:blip r:embed="rId4">
            <a:alphaModFix/>
          </a:blip>
          <a:srcRect/>
          <a:stretch/>
        </p:blipFill>
        <p:spPr>
          <a:xfrm>
            <a:off x="3977639" y="2084831"/>
            <a:ext cx="3337559" cy="2148840"/>
          </a:xfrm>
          <a:prstGeom prst="rect">
            <a:avLst/>
          </a:prstGeom>
          <a:noFill/>
          <a:ln>
            <a:noFill/>
          </a:ln>
        </p:spPr>
      </p:pic>
      <p:sp>
        <p:nvSpPr>
          <p:cNvPr id="282" name="Google Shape;282;h2994f3393d0b2db_0_134"/>
          <p:cNvSpPr txBox="1"/>
          <p:nvPr/>
        </p:nvSpPr>
        <p:spPr>
          <a:xfrm>
            <a:off x="7635240" y="1810512"/>
            <a:ext cx="3200400" cy="300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50" b="1" i="0" u="none" strike="noStrike" cap="none">
                <a:solidFill>
                  <a:srgbClr val="427D52"/>
                </a:solidFill>
                <a:latin typeface="Arial"/>
                <a:ea typeface="Arial"/>
                <a:cs typeface="Arial"/>
                <a:sym typeface="Arial"/>
              </a:rPr>
              <a:t>ENERGY USE vs. GDP</a:t>
            </a:r>
            <a:endParaRPr/>
          </a:p>
        </p:txBody>
      </p:sp>
      <p:pic>
        <p:nvPicPr>
          <p:cNvPr id="283" name="Google Shape;283;h2994f3393d0b2db_0_134" descr="image7.png"/>
          <p:cNvPicPr preferRelativeResize="0"/>
          <p:nvPr/>
        </p:nvPicPr>
        <p:blipFill rotWithShape="1">
          <a:blip r:embed="rId5">
            <a:alphaModFix/>
          </a:blip>
          <a:srcRect/>
          <a:stretch/>
        </p:blipFill>
        <p:spPr>
          <a:xfrm>
            <a:off x="7452360" y="2084831"/>
            <a:ext cx="4069080" cy="2880360"/>
          </a:xfrm>
          <a:prstGeom prst="rect">
            <a:avLst/>
          </a:prstGeom>
          <a:noFill/>
          <a:ln>
            <a:noFill/>
          </a:ln>
        </p:spPr>
      </p:pic>
      <p:sp>
        <p:nvSpPr>
          <p:cNvPr id="284" name="Google Shape;284;h2994f3393d0b2db_0_134"/>
          <p:cNvSpPr txBox="1"/>
          <p:nvPr/>
        </p:nvSpPr>
        <p:spPr>
          <a:xfrm>
            <a:off x="1792580" y="4341265"/>
            <a:ext cx="6080700" cy="315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50" b="1">
                <a:solidFill>
                  <a:srgbClr val="184168"/>
                </a:solidFill>
              </a:rPr>
              <a:t>The distributions of both variables are right-skewed</a:t>
            </a:r>
            <a:endParaRPr/>
          </a:p>
        </p:txBody>
      </p:sp>
      <p:sp>
        <p:nvSpPr>
          <p:cNvPr id="285" name="Google Shape;285;h2994f3393d0b2db_0_134"/>
          <p:cNvSpPr txBox="1"/>
          <p:nvPr/>
        </p:nvSpPr>
        <p:spPr>
          <a:xfrm>
            <a:off x="7452300" y="4965200"/>
            <a:ext cx="4208700" cy="762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50" b="1" i="0" u="none" strike="noStrike" cap="none">
                <a:solidFill>
                  <a:srgbClr val="184168"/>
                </a:solidFill>
                <a:latin typeface="Arial"/>
                <a:ea typeface="Arial"/>
                <a:cs typeface="Arial"/>
                <a:sym typeface="Arial"/>
              </a:rPr>
              <a:t>The scatterplot </a:t>
            </a:r>
            <a:r>
              <a:rPr lang="en-US" sz="1450" b="1">
                <a:solidFill>
                  <a:srgbClr val="184168"/>
                </a:solidFill>
              </a:rPr>
              <a:t>suggests a</a:t>
            </a:r>
            <a:r>
              <a:rPr lang="en-US" sz="1450" b="1" i="0" u="none" strike="noStrike" cap="none">
                <a:solidFill>
                  <a:srgbClr val="184168"/>
                </a:solidFill>
                <a:latin typeface="Arial"/>
                <a:ea typeface="Arial"/>
                <a:cs typeface="Arial"/>
                <a:sym typeface="Arial"/>
              </a:rPr>
              <a:t> positive relationship between energy consumption per capita and GDP per capita.</a:t>
            </a:r>
            <a:endParaRPr sz="1300"/>
          </a:p>
        </p:txBody>
      </p:sp>
      <p:sp>
        <p:nvSpPr>
          <p:cNvPr id="286" name="Google Shape;286;h2994f3393d0b2db_0_134"/>
          <p:cNvSpPr/>
          <p:nvPr/>
        </p:nvSpPr>
        <p:spPr>
          <a:xfrm>
            <a:off x="777235" y="5752675"/>
            <a:ext cx="10149900" cy="804600"/>
          </a:xfrm>
          <a:prstGeom prst="roundRect">
            <a:avLst>
              <a:gd name="adj" fmla="val 16667"/>
            </a:avLst>
          </a:prstGeom>
          <a:solidFill>
            <a:srgbClr val="EFF6F0"/>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287" name="Google Shape;287;h2994f3393d0b2db_0_134"/>
          <p:cNvSpPr txBox="1"/>
          <p:nvPr/>
        </p:nvSpPr>
        <p:spPr>
          <a:xfrm>
            <a:off x="868668" y="5881325"/>
            <a:ext cx="9966900" cy="538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50" b="1" i="0" u="none" strike="noStrike" cap="none">
                <a:solidFill>
                  <a:srgbClr val="427D52"/>
                </a:solidFill>
                <a:latin typeface="Arial"/>
                <a:ea typeface="Arial"/>
                <a:cs typeface="Arial"/>
                <a:sym typeface="Arial"/>
              </a:rPr>
              <a:t>However, the extreme values and uneven spread suggest the original-scale regression conditions need to be checked.</a:t>
            </a:r>
            <a:endParaRPr/>
          </a:p>
        </p:txBody>
      </p:sp>
      <p:sp>
        <p:nvSpPr>
          <p:cNvPr id="288" name="Google Shape;288;h2994f3393d0b2db_0_134"/>
          <p:cNvSpPr txBox="1"/>
          <p:nvPr/>
        </p:nvSpPr>
        <p:spPr>
          <a:xfrm>
            <a:off x="11018520" y="6473952"/>
            <a:ext cx="320100" cy="2769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200" b="1">
                <a:solidFill>
                  <a:srgbClr val="184168"/>
                </a:solidFill>
              </a:rPr>
              <a:t>8</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h2994f3393d0b2db_0_326"/>
          <p:cNvSpPr txBox="1">
            <a:spLocks noGrp="1"/>
          </p:cNvSpPr>
          <p:nvPr>
            <p:ph type="title"/>
          </p:nvPr>
        </p:nvSpPr>
        <p:spPr>
          <a:xfrm>
            <a:off x="457200" y="274638"/>
            <a:ext cx="8229600" cy="11430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endParaRPr/>
          </a:p>
        </p:txBody>
      </p:sp>
      <p:sp>
        <p:nvSpPr>
          <p:cNvPr id="294" name="Google Shape;294;h2994f3393d0b2db_0_326"/>
          <p:cNvSpPr txBox="1">
            <a:spLocks noGrp="1"/>
          </p:cNvSpPr>
          <p:nvPr>
            <p:ph type="body" idx="1"/>
          </p:nvPr>
        </p:nvSpPr>
        <p:spPr>
          <a:xfrm>
            <a:off x="457200" y="1600200"/>
            <a:ext cx="8229600" cy="4526100"/>
          </a:xfrm>
          <a:prstGeom prst="rect">
            <a:avLst/>
          </a:prstGeom>
        </p:spPr>
        <p:txBody>
          <a:bodyPr spcFirstLastPara="1" wrap="square" lIns="91425" tIns="45700" rIns="91425" bIns="45700" anchor="t" anchorCtr="0">
            <a:normAutofit/>
          </a:bodyPr>
          <a:lstStyle/>
          <a:p>
            <a:pPr marL="0" lvl="0" indent="0" algn="l" rtl="0">
              <a:spcBef>
                <a:spcPts val="360"/>
              </a:spcBef>
              <a:spcAft>
                <a:spcPts val="0"/>
              </a:spcAft>
              <a:buNone/>
            </a:pPr>
            <a:endParaRPr/>
          </a:p>
        </p:txBody>
      </p:sp>
      <p:sp>
        <p:nvSpPr>
          <p:cNvPr id="295" name="Google Shape;295;h2994f3393d0b2db_0_326"/>
          <p:cNvSpPr/>
          <p:nvPr/>
        </p:nvSpPr>
        <p:spPr>
          <a:xfrm>
            <a:off x="0" y="0"/>
            <a:ext cx="12191700" cy="6858000"/>
          </a:xfrm>
          <a:prstGeom prst="rect">
            <a:avLst/>
          </a:prstGeom>
          <a:solidFill>
            <a:srgbClr val="FBFAF7"/>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296" name="Google Shape;296;h2994f3393d0b2db_0_326"/>
          <p:cNvSpPr txBox="1"/>
          <p:nvPr/>
        </p:nvSpPr>
        <p:spPr>
          <a:xfrm>
            <a:off x="868680" y="457200"/>
            <a:ext cx="104241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84168"/>
                </a:solidFill>
                <a:latin typeface="Play"/>
                <a:ea typeface="Play"/>
                <a:cs typeface="Play"/>
                <a:sym typeface="Play"/>
              </a:rPr>
              <a:t>RQ2 — Checking the Original Regression Model</a:t>
            </a:r>
            <a:endParaRPr/>
          </a:p>
        </p:txBody>
      </p:sp>
      <p:sp>
        <p:nvSpPr>
          <p:cNvPr id="297" name="Google Shape;297;h2994f3393d0b2db_0_326"/>
          <p:cNvSpPr txBox="1"/>
          <p:nvPr/>
        </p:nvSpPr>
        <p:spPr>
          <a:xfrm>
            <a:off x="868675" y="975525"/>
            <a:ext cx="10739100" cy="615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700" b="0" i="0" u="none" strike="noStrike" cap="none">
                <a:solidFill>
                  <a:srgbClr val="48525C"/>
                </a:solidFill>
                <a:latin typeface="Arial"/>
                <a:ea typeface="Arial"/>
                <a:cs typeface="Arial"/>
                <a:sym typeface="Arial"/>
              </a:rPr>
              <a:t>The original-scale relationship is positive, but the residual diagnostics show that key model conditions are not satisfied.</a:t>
            </a:r>
            <a:endParaRPr/>
          </a:p>
        </p:txBody>
      </p:sp>
      <p:sp>
        <p:nvSpPr>
          <p:cNvPr id="298" name="Google Shape;298;h2994f3393d0b2db_0_326"/>
          <p:cNvSpPr/>
          <p:nvPr/>
        </p:nvSpPr>
        <p:spPr>
          <a:xfrm>
            <a:off x="868680" y="1609344"/>
            <a:ext cx="640200" cy="41100"/>
          </a:xfrm>
          <a:prstGeom prst="rect">
            <a:avLst/>
          </a:prstGeom>
          <a:solidFill>
            <a:srgbClr val="427D52"/>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299" name="Google Shape;299;h2994f3393d0b2db_0_326"/>
          <p:cNvSpPr/>
          <p:nvPr/>
        </p:nvSpPr>
        <p:spPr>
          <a:xfrm>
            <a:off x="868680" y="1847088"/>
            <a:ext cx="10378500" cy="530400"/>
          </a:xfrm>
          <a:prstGeom prst="roundRect">
            <a:avLst>
              <a:gd name="adj" fmla="val 16667"/>
            </a:avLst>
          </a:prstGeom>
          <a:solidFill>
            <a:srgbClr val="EEF4F8"/>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300" name="Google Shape;300;h2994f3393d0b2db_0_326"/>
          <p:cNvSpPr txBox="1"/>
          <p:nvPr/>
        </p:nvSpPr>
        <p:spPr>
          <a:xfrm>
            <a:off x="1097280" y="1975104"/>
            <a:ext cx="9921300" cy="3231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500" b="1" i="0" u="none" strike="noStrike" cap="none">
                <a:solidFill>
                  <a:srgbClr val="184168"/>
                </a:solidFill>
                <a:latin typeface="Arial"/>
                <a:ea typeface="Arial"/>
                <a:cs typeface="Arial"/>
                <a:sym typeface="Arial"/>
              </a:rPr>
              <a:t>Original model:   GDP per capita = β₀ + β₁(Energy consumption per capita) + ε</a:t>
            </a:r>
            <a:endParaRPr/>
          </a:p>
        </p:txBody>
      </p:sp>
      <p:sp>
        <p:nvSpPr>
          <p:cNvPr id="301" name="Google Shape;301;h2994f3393d0b2db_0_326"/>
          <p:cNvSpPr txBox="1"/>
          <p:nvPr/>
        </p:nvSpPr>
        <p:spPr>
          <a:xfrm>
            <a:off x="914400" y="2633472"/>
            <a:ext cx="4389000" cy="323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i="0" u="none" strike="noStrike" cap="none">
                <a:solidFill>
                  <a:srgbClr val="427D52"/>
                </a:solidFill>
                <a:latin typeface="Arial"/>
                <a:ea typeface="Arial"/>
                <a:cs typeface="Arial"/>
                <a:sym typeface="Arial"/>
              </a:rPr>
              <a:t>NORMALITY OF RESIDUALS</a:t>
            </a:r>
            <a:endParaRPr sz="1500"/>
          </a:p>
        </p:txBody>
      </p:sp>
      <p:sp>
        <p:nvSpPr>
          <p:cNvPr id="302" name="Google Shape;302;h2994f3393d0b2db_0_326"/>
          <p:cNvSpPr txBox="1"/>
          <p:nvPr/>
        </p:nvSpPr>
        <p:spPr>
          <a:xfrm>
            <a:off x="6199632" y="2633472"/>
            <a:ext cx="4389000" cy="323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i="0" u="none" strike="noStrike" cap="none">
                <a:solidFill>
                  <a:srgbClr val="184168"/>
                </a:solidFill>
                <a:latin typeface="Arial"/>
                <a:ea typeface="Arial"/>
                <a:cs typeface="Arial"/>
                <a:sym typeface="Arial"/>
              </a:rPr>
              <a:t>HOMOSCEDASTICITY</a:t>
            </a:r>
            <a:endParaRPr sz="1500"/>
          </a:p>
        </p:txBody>
      </p:sp>
      <p:pic>
        <p:nvPicPr>
          <p:cNvPr id="303" name="Google Shape;303;h2994f3393d0b2db_0_326" descr="image2.png"/>
          <p:cNvPicPr preferRelativeResize="0"/>
          <p:nvPr/>
        </p:nvPicPr>
        <p:blipFill rotWithShape="1">
          <a:blip r:embed="rId3">
            <a:alphaModFix/>
          </a:blip>
          <a:srcRect/>
          <a:stretch/>
        </p:blipFill>
        <p:spPr>
          <a:xfrm>
            <a:off x="841248" y="2907792"/>
            <a:ext cx="4983481" cy="2514601"/>
          </a:xfrm>
          <a:prstGeom prst="rect">
            <a:avLst/>
          </a:prstGeom>
          <a:noFill/>
          <a:ln>
            <a:noFill/>
          </a:ln>
        </p:spPr>
      </p:pic>
      <p:pic>
        <p:nvPicPr>
          <p:cNvPr id="304" name="Google Shape;304;h2994f3393d0b2db_0_326" descr="image8.png"/>
          <p:cNvPicPr preferRelativeResize="0"/>
          <p:nvPr/>
        </p:nvPicPr>
        <p:blipFill rotWithShape="1">
          <a:blip r:embed="rId4">
            <a:alphaModFix/>
          </a:blip>
          <a:srcRect/>
          <a:stretch/>
        </p:blipFill>
        <p:spPr>
          <a:xfrm>
            <a:off x="5879592" y="2907792"/>
            <a:ext cx="4983480" cy="2514600"/>
          </a:xfrm>
          <a:prstGeom prst="rect">
            <a:avLst/>
          </a:prstGeom>
          <a:noFill/>
          <a:ln>
            <a:noFill/>
          </a:ln>
        </p:spPr>
      </p:pic>
      <p:sp>
        <p:nvSpPr>
          <p:cNvPr id="305" name="Google Shape;305;h2994f3393d0b2db_0_326"/>
          <p:cNvSpPr txBox="1"/>
          <p:nvPr/>
        </p:nvSpPr>
        <p:spPr>
          <a:xfrm>
            <a:off x="932688" y="5486400"/>
            <a:ext cx="4709100" cy="3156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50" b="1">
                <a:solidFill>
                  <a:srgbClr val="48525C"/>
                </a:solidFill>
              </a:rPr>
              <a:t>R</a:t>
            </a:r>
            <a:r>
              <a:rPr lang="en-US" sz="1450" b="1" i="0" u="none" strike="noStrike" cap="none">
                <a:solidFill>
                  <a:srgbClr val="48525C"/>
                </a:solidFill>
                <a:latin typeface="Arial"/>
                <a:ea typeface="Arial"/>
                <a:cs typeface="Arial"/>
                <a:sym typeface="Arial"/>
              </a:rPr>
              <a:t>esiduals are not approximately normal.</a:t>
            </a:r>
            <a:endParaRPr/>
          </a:p>
        </p:txBody>
      </p:sp>
      <p:sp>
        <p:nvSpPr>
          <p:cNvPr id="306" name="Google Shape;306;h2994f3393d0b2db_0_326"/>
          <p:cNvSpPr txBox="1"/>
          <p:nvPr/>
        </p:nvSpPr>
        <p:spPr>
          <a:xfrm>
            <a:off x="5989320" y="5486400"/>
            <a:ext cx="4709100" cy="3156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50" b="1">
                <a:solidFill>
                  <a:srgbClr val="48525C"/>
                </a:solidFill>
              </a:rPr>
              <a:t>C</a:t>
            </a:r>
            <a:r>
              <a:rPr lang="en-US" sz="1450" b="1" i="0" u="none" strike="noStrike" cap="none">
                <a:solidFill>
                  <a:srgbClr val="48525C"/>
                </a:solidFill>
                <a:latin typeface="Arial"/>
                <a:ea typeface="Arial"/>
                <a:cs typeface="Arial"/>
                <a:sym typeface="Arial"/>
              </a:rPr>
              <a:t>onstant variance is violated.</a:t>
            </a:r>
            <a:endParaRPr/>
          </a:p>
        </p:txBody>
      </p:sp>
      <p:sp>
        <p:nvSpPr>
          <p:cNvPr id="307" name="Google Shape;307;h2994f3393d0b2db_0_326"/>
          <p:cNvSpPr txBox="1"/>
          <p:nvPr/>
        </p:nvSpPr>
        <p:spPr>
          <a:xfrm>
            <a:off x="868675" y="5866000"/>
            <a:ext cx="9921300" cy="661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50" b="1" i="0" u="none" strike="noStrike" cap="none">
                <a:solidFill>
                  <a:srgbClr val="427D52"/>
                </a:solidFill>
                <a:latin typeface="Arial"/>
                <a:ea typeface="Arial"/>
                <a:cs typeface="Arial"/>
                <a:sym typeface="Arial"/>
              </a:rPr>
              <a:t>These diagnostics motivate transforming both energy use and GDP per capita before refitting the model.</a:t>
            </a:r>
            <a:endParaRPr sz="1700"/>
          </a:p>
        </p:txBody>
      </p:sp>
      <p:sp>
        <p:nvSpPr>
          <p:cNvPr id="308" name="Google Shape;308;h2994f3393d0b2db_0_326"/>
          <p:cNvSpPr txBox="1"/>
          <p:nvPr/>
        </p:nvSpPr>
        <p:spPr>
          <a:xfrm>
            <a:off x="11018520" y="6473952"/>
            <a:ext cx="320100" cy="2769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200" b="1">
                <a:solidFill>
                  <a:srgbClr val="184168"/>
                </a:solidFill>
              </a:rPr>
              <a:t>9</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h2994f3393d0b2db_0_144"/>
          <p:cNvSpPr txBox="1">
            <a:spLocks noGrp="1"/>
          </p:cNvSpPr>
          <p:nvPr>
            <p:ph type="title"/>
          </p:nvPr>
        </p:nvSpPr>
        <p:spPr>
          <a:xfrm>
            <a:off x="457200" y="274638"/>
            <a:ext cx="8229600" cy="11430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endParaRPr/>
          </a:p>
        </p:txBody>
      </p:sp>
      <p:sp>
        <p:nvSpPr>
          <p:cNvPr id="314" name="Google Shape;314;h2994f3393d0b2db_0_144"/>
          <p:cNvSpPr txBox="1">
            <a:spLocks noGrp="1"/>
          </p:cNvSpPr>
          <p:nvPr>
            <p:ph type="body" idx="1"/>
          </p:nvPr>
        </p:nvSpPr>
        <p:spPr>
          <a:xfrm>
            <a:off x="457200" y="1600200"/>
            <a:ext cx="8229600" cy="4526100"/>
          </a:xfrm>
          <a:prstGeom prst="rect">
            <a:avLst/>
          </a:prstGeom>
        </p:spPr>
        <p:txBody>
          <a:bodyPr spcFirstLastPara="1" wrap="square" lIns="91425" tIns="45700" rIns="91425" bIns="45700" anchor="t" anchorCtr="0">
            <a:normAutofit/>
          </a:bodyPr>
          <a:lstStyle/>
          <a:p>
            <a:pPr marL="0" lvl="0" indent="0" algn="l" rtl="0">
              <a:spcBef>
                <a:spcPts val="360"/>
              </a:spcBef>
              <a:spcAft>
                <a:spcPts val="0"/>
              </a:spcAft>
              <a:buNone/>
            </a:pPr>
            <a:endParaRPr/>
          </a:p>
        </p:txBody>
      </p:sp>
      <p:sp>
        <p:nvSpPr>
          <p:cNvPr id="315" name="Google Shape;315;h2994f3393d0b2db_0_144"/>
          <p:cNvSpPr/>
          <p:nvPr/>
        </p:nvSpPr>
        <p:spPr>
          <a:xfrm>
            <a:off x="0" y="0"/>
            <a:ext cx="12191700" cy="6858000"/>
          </a:xfrm>
          <a:prstGeom prst="rect">
            <a:avLst/>
          </a:prstGeom>
          <a:solidFill>
            <a:srgbClr val="FBFAF7"/>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316" name="Google Shape;316;h2994f3393d0b2db_0_144"/>
          <p:cNvSpPr txBox="1"/>
          <p:nvPr/>
        </p:nvSpPr>
        <p:spPr>
          <a:xfrm>
            <a:off x="868680" y="457200"/>
            <a:ext cx="104241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84168"/>
                </a:solidFill>
                <a:latin typeface="Play"/>
                <a:ea typeface="Play"/>
                <a:cs typeface="Play"/>
                <a:sym typeface="Play"/>
              </a:rPr>
              <a:t>RQ2 — Log Transformation Improves the Model</a:t>
            </a:r>
            <a:endParaRPr/>
          </a:p>
        </p:txBody>
      </p:sp>
      <p:sp>
        <p:nvSpPr>
          <p:cNvPr id="317" name="Google Shape;317;h2994f3393d0b2db_0_144"/>
          <p:cNvSpPr txBox="1"/>
          <p:nvPr/>
        </p:nvSpPr>
        <p:spPr>
          <a:xfrm>
            <a:off x="868675" y="1036850"/>
            <a:ext cx="10845600" cy="615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700" b="0" i="0" u="none" strike="noStrike" cap="none">
                <a:solidFill>
                  <a:srgbClr val="48525C"/>
                </a:solidFill>
                <a:latin typeface="Arial"/>
                <a:ea typeface="Arial"/>
                <a:cs typeface="Arial"/>
                <a:sym typeface="Arial"/>
              </a:rPr>
              <a:t>After the original model failed key diagnostic checks, both GDP per capita and energy use were transformed using logarithms.</a:t>
            </a:r>
            <a:endParaRPr/>
          </a:p>
        </p:txBody>
      </p:sp>
      <p:sp>
        <p:nvSpPr>
          <p:cNvPr id="318" name="Google Shape;318;h2994f3393d0b2db_0_144"/>
          <p:cNvSpPr/>
          <p:nvPr/>
        </p:nvSpPr>
        <p:spPr>
          <a:xfrm rot="10800000" flipH="1">
            <a:off x="868675" y="1688989"/>
            <a:ext cx="640200" cy="39600"/>
          </a:xfrm>
          <a:prstGeom prst="rect">
            <a:avLst/>
          </a:prstGeom>
          <a:solidFill>
            <a:srgbClr val="427D52"/>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319" name="Google Shape;319;h2994f3393d0b2db_0_144"/>
          <p:cNvSpPr/>
          <p:nvPr/>
        </p:nvSpPr>
        <p:spPr>
          <a:xfrm>
            <a:off x="868680" y="1847088"/>
            <a:ext cx="10378500" cy="530400"/>
          </a:xfrm>
          <a:prstGeom prst="roundRect">
            <a:avLst>
              <a:gd name="adj" fmla="val 16667"/>
            </a:avLst>
          </a:prstGeom>
          <a:solidFill>
            <a:srgbClr val="EEF4F8"/>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320" name="Google Shape;320;h2994f3393d0b2db_0_144"/>
          <p:cNvSpPr txBox="1"/>
          <p:nvPr/>
        </p:nvSpPr>
        <p:spPr>
          <a:xfrm>
            <a:off x="1097280" y="1975104"/>
            <a:ext cx="9875400" cy="354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700" b="1" i="0" u="none" strike="noStrike" cap="none">
                <a:solidFill>
                  <a:srgbClr val="184168"/>
                </a:solidFill>
                <a:latin typeface="Arial"/>
                <a:ea typeface="Arial"/>
                <a:cs typeface="Arial"/>
                <a:sym typeface="Arial"/>
              </a:rPr>
              <a:t>log(GDP) = β₀ + β₁ log(Energy) + ε</a:t>
            </a:r>
            <a:endParaRPr/>
          </a:p>
        </p:txBody>
      </p:sp>
      <p:sp>
        <p:nvSpPr>
          <p:cNvPr id="321" name="Google Shape;321;h2994f3393d0b2db_0_144"/>
          <p:cNvSpPr txBox="1"/>
          <p:nvPr/>
        </p:nvSpPr>
        <p:spPr>
          <a:xfrm>
            <a:off x="841248" y="2651760"/>
            <a:ext cx="3108900" cy="300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50" b="1" i="0" u="none" strike="noStrike" cap="none">
                <a:solidFill>
                  <a:srgbClr val="427D52"/>
                </a:solidFill>
                <a:latin typeface="Arial"/>
                <a:ea typeface="Arial"/>
                <a:cs typeface="Arial"/>
                <a:sym typeface="Arial"/>
              </a:rPr>
              <a:t>LOG–LOG RELATIONSHIP</a:t>
            </a:r>
            <a:endParaRPr/>
          </a:p>
        </p:txBody>
      </p:sp>
      <p:sp>
        <p:nvSpPr>
          <p:cNvPr id="322" name="Google Shape;322;h2994f3393d0b2db_0_144"/>
          <p:cNvSpPr txBox="1"/>
          <p:nvPr/>
        </p:nvSpPr>
        <p:spPr>
          <a:xfrm>
            <a:off x="4315968" y="2651760"/>
            <a:ext cx="3108900" cy="300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50" b="1" i="0" u="none" strike="noStrike" cap="none">
                <a:solidFill>
                  <a:srgbClr val="184168"/>
                </a:solidFill>
                <a:latin typeface="Arial"/>
                <a:ea typeface="Arial"/>
                <a:cs typeface="Arial"/>
                <a:sym typeface="Arial"/>
              </a:rPr>
              <a:t>NORMALITY — LOG MODEL</a:t>
            </a:r>
            <a:endParaRPr/>
          </a:p>
        </p:txBody>
      </p:sp>
      <p:sp>
        <p:nvSpPr>
          <p:cNvPr id="323" name="Google Shape;323;h2994f3393d0b2db_0_144"/>
          <p:cNvSpPr txBox="1"/>
          <p:nvPr/>
        </p:nvSpPr>
        <p:spPr>
          <a:xfrm>
            <a:off x="7790688" y="2651760"/>
            <a:ext cx="3108900" cy="507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50" b="1" i="0" u="none" strike="noStrike" cap="none">
                <a:solidFill>
                  <a:srgbClr val="427D52"/>
                </a:solidFill>
                <a:latin typeface="Arial"/>
                <a:ea typeface="Arial"/>
                <a:cs typeface="Arial"/>
                <a:sym typeface="Arial"/>
              </a:rPr>
              <a:t>CONSTANT VARIANCE — LOG MODEL</a:t>
            </a:r>
            <a:endParaRPr/>
          </a:p>
        </p:txBody>
      </p:sp>
      <p:pic>
        <p:nvPicPr>
          <p:cNvPr id="324" name="Google Shape;324;h2994f3393d0b2db_0_144" descr="image3.png"/>
          <p:cNvPicPr preferRelativeResize="0"/>
          <p:nvPr/>
        </p:nvPicPr>
        <p:blipFill rotWithShape="1">
          <a:blip r:embed="rId3">
            <a:alphaModFix/>
          </a:blip>
          <a:srcRect/>
          <a:stretch/>
        </p:blipFill>
        <p:spPr>
          <a:xfrm>
            <a:off x="658368" y="2944368"/>
            <a:ext cx="3493008" cy="2377440"/>
          </a:xfrm>
          <a:prstGeom prst="rect">
            <a:avLst/>
          </a:prstGeom>
          <a:noFill/>
          <a:ln>
            <a:noFill/>
          </a:ln>
        </p:spPr>
      </p:pic>
      <p:pic>
        <p:nvPicPr>
          <p:cNvPr id="325" name="Google Shape;325;h2994f3393d0b2db_0_144" descr="image4.png"/>
          <p:cNvPicPr preferRelativeResize="0"/>
          <p:nvPr/>
        </p:nvPicPr>
        <p:blipFill rotWithShape="1">
          <a:blip r:embed="rId4">
            <a:alphaModFix/>
          </a:blip>
          <a:srcRect/>
          <a:stretch/>
        </p:blipFill>
        <p:spPr>
          <a:xfrm>
            <a:off x="4133087" y="2944368"/>
            <a:ext cx="3493008" cy="2377440"/>
          </a:xfrm>
          <a:prstGeom prst="rect">
            <a:avLst/>
          </a:prstGeom>
          <a:noFill/>
          <a:ln>
            <a:noFill/>
          </a:ln>
        </p:spPr>
      </p:pic>
      <p:pic>
        <p:nvPicPr>
          <p:cNvPr id="326" name="Google Shape;326;h2994f3393d0b2db_0_144" descr="image9.png"/>
          <p:cNvPicPr preferRelativeResize="0"/>
          <p:nvPr/>
        </p:nvPicPr>
        <p:blipFill rotWithShape="1">
          <a:blip r:embed="rId5">
            <a:alphaModFix/>
          </a:blip>
          <a:srcRect/>
          <a:stretch/>
        </p:blipFill>
        <p:spPr>
          <a:xfrm>
            <a:off x="7607808" y="2944368"/>
            <a:ext cx="3493007" cy="2377439"/>
          </a:xfrm>
          <a:prstGeom prst="rect">
            <a:avLst/>
          </a:prstGeom>
          <a:noFill/>
          <a:ln>
            <a:noFill/>
          </a:ln>
        </p:spPr>
      </p:pic>
      <p:sp>
        <p:nvSpPr>
          <p:cNvPr id="327" name="Google Shape;327;h2994f3393d0b2db_0_144"/>
          <p:cNvSpPr txBox="1"/>
          <p:nvPr/>
        </p:nvSpPr>
        <p:spPr>
          <a:xfrm>
            <a:off x="749808" y="5413248"/>
            <a:ext cx="3310200" cy="5232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b="1" i="0" u="none" strike="noStrike" cap="none">
                <a:solidFill>
                  <a:srgbClr val="184168"/>
                </a:solidFill>
                <a:latin typeface="Arial"/>
                <a:ea typeface="Arial"/>
                <a:cs typeface="Arial"/>
                <a:sym typeface="Arial"/>
              </a:rPr>
              <a:t>A clearer linear relationship after transformation.</a:t>
            </a:r>
            <a:endParaRPr/>
          </a:p>
        </p:txBody>
      </p:sp>
      <p:sp>
        <p:nvSpPr>
          <p:cNvPr id="328" name="Google Shape;328;h2994f3393d0b2db_0_144"/>
          <p:cNvSpPr txBox="1"/>
          <p:nvPr/>
        </p:nvSpPr>
        <p:spPr>
          <a:xfrm>
            <a:off x="4224528" y="5413248"/>
            <a:ext cx="3310200" cy="5232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b="1" i="0" u="none" strike="noStrike" cap="none">
                <a:solidFill>
                  <a:srgbClr val="184168"/>
                </a:solidFill>
                <a:latin typeface="Arial"/>
                <a:ea typeface="Arial"/>
                <a:cs typeface="Arial"/>
                <a:sym typeface="Arial"/>
              </a:rPr>
              <a:t>Residuals lie much closer to the reference line.</a:t>
            </a:r>
            <a:endParaRPr/>
          </a:p>
        </p:txBody>
      </p:sp>
      <p:sp>
        <p:nvSpPr>
          <p:cNvPr id="329" name="Google Shape;329;h2994f3393d0b2db_0_144"/>
          <p:cNvSpPr txBox="1"/>
          <p:nvPr/>
        </p:nvSpPr>
        <p:spPr>
          <a:xfrm>
            <a:off x="7699248" y="5413248"/>
            <a:ext cx="3310200" cy="5232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b="1" i="0" u="none" strike="noStrike" cap="none">
                <a:solidFill>
                  <a:srgbClr val="184168"/>
                </a:solidFill>
                <a:latin typeface="Arial"/>
                <a:ea typeface="Arial"/>
                <a:cs typeface="Arial"/>
                <a:sym typeface="Arial"/>
              </a:rPr>
              <a:t>Residual spread is more consistent across fitted values.</a:t>
            </a:r>
            <a:endParaRPr/>
          </a:p>
        </p:txBody>
      </p:sp>
      <p:sp>
        <p:nvSpPr>
          <p:cNvPr id="330" name="Google Shape;330;h2994f3393d0b2db_0_144"/>
          <p:cNvSpPr txBox="1"/>
          <p:nvPr/>
        </p:nvSpPr>
        <p:spPr>
          <a:xfrm>
            <a:off x="868680" y="5971032"/>
            <a:ext cx="9966900" cy="6309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750" b="1">
                <a:solidFill>
                  <a:srgbClr val="427D52"/>
                </a:solidFill>
              </a:rPr>
              <a:t>The regression assumption were reasonably satisfied,</a:t>
            </a:r>
            <a:r>
              <a:rPr lang="en-US" sz="1750" b="1" i="0" u="none" strike="noStrike" cap="none">
                <a:solidFill>
                  <a:srgbClr val="427D52"/>
                </a:solidFill>
                <a:latin typeface="Arial"/>
                <a:ea typeface="Arial"/>
                <a:cs typeface="Arial"/>
                <a:sym typeface="Arial"/>
              </a:rPr>
              <a:t> so the log-transformed model is used for the final RQ2 inference.</a:t>
            </a:r>
            <a:endParaRPr sz="1600"/>
          </a:p>
        </p:txBody>
      </p:sp>
      <p:sp>
        <p:nvSpPr>
          <p:cNvPr id="331" name="Google Shape;331;h2994f3393d0b2db_0_144"/>
          <p:cNvSpPr txBox="1"/>
          <p:nvPr/>
        </p:nvSpPr>
        <p:spPr>
          <a:xfrm>
            <a:off x="11018529" y="6473950"/>
            <a:ext cx="640200" cy="2769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200" b="1">
                <a:solidFill>
                  <a:srgbClr val="184168"/>
                </a:solidFill>
              </a:rPr>
              <a:t>10</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h2994f3393d0b2db_0_321"/>
          <p:cNvSpPr txBox="1">
            <a:spLocks noGrp="1"/>
          </p:cNvSpPr>
          <p:nvPr>
            <p:ph type="title"/>
          </p:nvPr>
        </p:nvSpPr>
        <p:spPr>
          <a:xfrm>
            <a:off x="457200" y="274638"/>
            <a:ext cx="8229600" cy="11430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endParaRPr/>
          </a:p>
        </p:txBody>
      </p:sp>
      <p:sp>
        <p:nvSpPr>
          <p:cNvPr id="337" name="Google Shape;337;h2994f3393d0b2db_0_321"/>
          <p:cNvSpPr txBox="1">
            <a:spLocks noGrp="1"/>
          </p:cNvSpPr>
          <p:nvPr>
            <p:ph type="body" idx="1"/>
          </p:nvPr>
        </p:nvSpPr>
        <p:spPr>
          <a:xfrm>
            <a:off x="457200" y="1600200"/>
            <a:ext cx="8229600" cy="4526100"/>
          </a:xfrm>
          <a:prstGeom prst="rect">
            <a:avLst/>
          </a:prstGeom>
        </p:spPr>
        <p:txBody>
          <a:bodyPr spcFirstLastPara="1" wrap="square" lIns="91425" tIns="45700" rIns="91425" bIns="45700" anchor="t" anchorCtr="0">
            <a:normAutofit/>
          </a:bodyPr>
          <a:lstStyle/>
          <a:p>
            <a:pPr marL="0" lvl="0" indent="0" algn="l" rtl="0">
              <a:spcBef>
                <a:spcPts val="360"/>
              </a:spcBef>
              <a:spcAft>
                <a:spcPts val="0"/>
              </a:spcAft>
              <a:buNone/>
            </a:pPr>
            <a:endParaRPr/>
          </a:p>
        </p:txBody>
      </p:sp>
      <p:sp>
        <p:nvSpPr>
          <p:cNvPr id="338" name="Google Shape;338;h2994f3393d0b2db_0_321"/>
          <p:cNvSpPr/>
          <p:nvPr/>
        </p:nvSpPr>
        <p:spPr>
          <a:xfrm>
            <a:off x="0" y="0"/>
            <a:ext cx="12191700" cy="6858000"/>
          </a:xfrm>
          <a:prstGeom prst="rect">
            <a:avLst/>
          </a:prstGeom>
          <a:solidFill>
            <a:srgbClr val="FBFAF7"/>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339" name="Google Shape;339;h2994f3393d0b2db_0_321"/>
          <p:cNvSpPr txBox="1"/>
          <p:nvPr/>
        </p:nvSpPr>
        <p:spPr>
          <a:xfrm>
            <a:off x="868680" y="378075"/>
            <a:ext cx="10332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84168"/>
                </a:solidFill>
                <a:latin typeface="Play"/>
                <a:ea typeface="Play"/>
                <a:cs typeface="Play"/>
                <a:sym typeface="Play"/>
              </a:rPr>
              <a:t>RQ2 — Statistical Results</a:t>
            </a:r>
            <a:endParaRPr/>
          </a:p>
        </p:txBody>
      </p:sp>
      <p:sp>
        <p:nvSpPr>
          <p:cNvPr id="340" name="Google Shape;340;h2994f3393d0b2db_0_321"/>
          <p:cNvSpPr txBox="1"/>
          <p:nvPr/>
        </p:nvSpPr>
        <p:spPr>
          <a:xfrm>
            <a:off x="864180" y="973838"/>
            <a:ext cx="10058400" cy="615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700" b="0" i="0" u="none" strike="noStrike" cap="none">
                <a:solidFill>
                  <a:srgbClr val="48525C"/>
                </a:solidFill>
                <a:latin typeface="Arial"/>
                <a:ea typeface="Arial"/>
                <a:cs typeface="Arial"/>
                <a:sym typeface="Arial"/>
              </a:rPr>
              <a:t>How strongly is energy consumption per capita associated with GDP per capita across countries in 2021?</a:t>
            </a:r>
            <a:endParaRPr/>
          </a:p>
        </p:txBody>
      </p:sp>
      <p:sp>
        <p:nvSpPr>
          <p:cNvPr id="341" name="Google Shape;341;h2994f3393d0b2db_0_321"/>
          <p:cNvSpPr/>
          <p:nvPr/>
        </p:nvSpPr>
        <p:spPr>
          <a:xfrm>
            <a:off x="868680" y="1609344"/>
            <a:ext cx="640200" cy="41100"/>
          </a:xfrm>
          <a:prstGeom prst="rect">
            <a:avLst/>
          </a:prstGeom>
          <a:solidFill>
            <a:srgbClr val="427D52"/>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342" name="Google Shape;342;h2994f3393d0b2db_0_321"/>
          <p:cNvSpPr/>
          <p:nvPr/>
        </p:nvSpPr>
        <p:spPr>
          <a:xfrm>
            <a:off x="868675" y="1938525"/>
            <a:ext cx="4254000" cy="1473900"/>
          </a:xfrm>
          <a:prstGeom prst="roundRect">
            <a:avLst>
              <a:gd name="adj" fmla="val 16667"/>
            </a:avLst>
          </a:prstGeom>
          <a:solidFill>
            <a:srgbClr val="EEF4F8"/>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343" name="Google Shape;343;h2994f3393d0b2db_0_321"/>
          <p:cNvSpPr txBox="1"/>
          <p:nvPr/>
        </p:nvSpPr>
        <p:spPr>
          <a:xfrm>
            <a:off x="1143000" y="2174328"/>
            <a:ext cx="32004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none" strike="noStrike" cap="none">
                <a:solidFill>
                  <a:srgbClr val="184168"/>
                </a:solidFill>
                <a:latin typeface="Arial"/>
                <a:ea typeface="Arial"/>
                <a:cs typeface="Arial"/>
                <a:sym typeface="Arial"/>
              </a:rPr>
              <a:t>MODEL &amp; HYPOTHESIS</a:t>
            </a:r>
            <a:endParaRPr/>
          </a:p>
        </p:txBody>
      </p:sp>
      <p:sp>
        <p:nvSpPr>
          <p:cNvPr id="344" name="Google Shape;344;h2994f3393d0b2db_0_321"/>
          <p:cNvSpPr txBox="1"/>
          <p:nvPr/>
        </p:nvSpPr>
        <p:spPr>
          <a:xfrm>
            <a:off x="1143000" y="2528020"/>
            <a:ext cx="3535500" cy="330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50" b="1" i="0" u="none" strike="noStrike" cap="none">
                <a:solidFill>
                  <a:srgbClr val="184168"/>
                </a:solidFill>
                <a:latin typeface="Arial"/>
                <a:ea typeface="Arial"/>
                <a:cs typeface="Arial"/>
                <a:sym typeface="Arial"/>
              </a:rPr>
              <a:t>log(GDP) = β₀ + β₁ log(Energy) + ε</a:t>
            </a:r>
            <a:endParaRPr/>
          </a:p>
        </p:txBody>
      </p:sp>
      <p:sp>
        <p:nvSpPr>
          <p:cNvPr id="345" name="Google Shape;345;h2994f3393d0b2db_0_321"/>
          <p:cNvSpPr txBox="1"/>
          <p:nvPr/>
        </p:nvSpPr>
        <p:spPr>
          <a:xfrm>
            <a:off x="1143000" y="2906992"/>
            <a:ext cx="3200400" cy="323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i="0" u="none" strike="noStrike" cap="none">
                <a:solidFill>
                  <a:srgbClr val="48525C"/>
                </a:solidFill>
                <a:latin typeface="Arial"/>
                <a:ea typeface="Arial"/>
                <a:cs typeface="Arial"/>
                <a:sym typeface="Arial"/>
              </a:rPr>
              <a:t>H₀: β₁ = 0</a:t>
            </a:r>
            <a:endParaRPr/>
          </a:p>
        </p:txBody>
      </p:sp>
      <p:sp>
        <p:nvSpPr>
          <p:cNvPr id="346" name="Google Shape;346;h2994f3393d0b2db_0_321"/>
          <p:cNvSpPr txBox="1"/>
          <p:nvPr/>
        </p:nvSpPr>
        <p:spPr>
          <a:xfrm>
            <a:off x="2788920" y="2906992"/>
            <a:ext cx="1554600" cy="323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i="0" u="none" strike="noStrike" cap="none">
                <a:solidFill>
                  <a:srgbClr val="48525C"/>
                </a:solidFill>
                <a:latin typeface="Arial"/>
                <a:ea typeface="Arial"/>
                <a:cs typeface="Arial"/>
                <a:sym typeface="Arial"/>
              </a:rPr>
              <a:t>Hₐ: β₁ ≠ 0</a:t>
            </a:r>
            <a:endParaRPr/>
          </a:p>
        </p:txBody>
      </p:sp>
      <p:sp>
        <p:nvSpPr>
          <p:cNvPr id="347" name="Google Shape;347;h2994f3393d0b2db_0_321"/>
          <p:cNvSpPr txBox="1"/>
          <p:nvPr/>
        </p:nvSpPr>
        <p:spPr>
          <a:xfrm>
            <a:off x="5527675" y="1985475"/>
            <a:ext cx="25386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u="none" strike="noStrike" cap="none">
                <a:solidFill>
                  <a:srgbClr val="427D52"/>
                </a:solidFill>
                <a:latin typeface="Arial"/>
                <a:ea typeface="Arial"/>
                <a:cs typeface="Arial"/>
                <a:sym typeface="Arial"/>
              </a:rPr>
              <a:t>WHAT THIS MEANS</a:t>
            </a:r>
            <a:endParaRPr sz="1800"/>
          </a:p>
        </p:txBody>
      </p:sp>
      <p:sp>
        <p:nvSpPr>
          <p:cNvPr id="348" name="Google Shape;348;h2994f3393d0b2db_0_321"/>
          <p:cNvSpPr txBox="1"/>
          <p:nvPr/>
        </p:nvSpPr>
        <p:spPr>
          <a:xfrm>
            <a:off x="5527675" y="2442674"/>
            <a:ext cx="5760300" cy="969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900" b="1" i="0" u="none" strike="noStrike" cap="none">
                <a:solidFill>
                  <a:srgbClr val="184168"/>
                </a:solidFill>
                <a:latin typeface="Arial"/>
                <a:ea typeface="Arial"/>
                <a:cs typeface="Arial"/>
                <a:sym typeface="Arial"/>
              </a:rPr>
              <a:t>A 1% increase in energy use per capita is associated with about a 0.95% increase in GDP per capita, on average.</a:t>
            </a:r>
            <a:endParaRPr sz="1200"/>
          </a:p>
        </p:txBody>
      </p:sp>
      <p:sp>
        <p:nvSpPr>
          <p:cNvPr id="349" name="Google Shape;349;h2994f3393d0b2db_0_321"/>
          <p:cNvSpPr txBox="1"/>
          <p:nvPr/>
        </p:nvSpPr>
        <p:spPr>
          <a:xfrm>
            <a:off x="5552125" y="3433815"/>
            <a:ext cx="5516100" cy="569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50" b="0" i="0" u="none" strike="noStrike" cap="none">
                <a:solidFill>
                  <a:srgbClr val="48525C"/>
                </a:solidFill>
                <a:latin typeface="Arial"/>
                <a:ea typeface="Arial"/>
                <a:cs typeface="Arial"/>
                <a:sym typeface="Arial"/>
              </a:rPr>
              <a:t>The p-value is far below 0.05 and the 95% confidence interval does not include 0.</a:t>
            </a:r>
            <a:endParaRPr/>
          </a:p>
        </p:txBody>
      </p:sp>
      <p:sp>
        <p:nvSpPr>
          <p:cNvPr id="350" name="Google Shape;350;h2994f3393d0b2db_0_321"/>
          <p:cNvSpPr txBox="1"/>
          <p:nvPr/>
        </p:nvSpPr>
        <p:spPr>
          <a:xfrm>
            <a:off x="11018527" y="6473951"/>
            <a:ext cx="447000" cy="2769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200" b="1">
                <a:solidFill>
                  <a:srgbClr val="184168"/>
                </a:solidFill>
              </a:rPr>
              <a:t>11</a:t>
            </a:r>
            <a:endParaRPr/>
          </a:p>
        </p:txBody>
      </p:sp>
      <p:sp>
        <p:nvSpPr>
          <p:cNvPr id="351" name="Google Shape;351;h2994f3393d0b2db_0_321"/>
          <p:cNvSpPr/>
          <p:nvPr/>
        </p:nvSpPr>
        <p:spPr>
          <a:xfrm>
            <a:off x="868675" y="4400250"/>
            <a:ext cx="4254000" cy="2061900"/>
          </a:xfrm>
          <a:prstGeom prst="roundRect">
            <a:avLst>
              <a:gd name="adj" fmla="val 16667"/>
            </a:avLst>
          </a:prstGeom>
          <a:solidFill>
            <a:srgbClr val="EFF6F0"/>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352" name="Google Shape;352;h2994f3393d0b2db_0_321"/>
          <p:cNvSpPr txBox="1"/>
          <p:nvPr/>
        </p:nvSpPr>
        <p:spPr>
          <a:xfrm>
            <a:off x="1143000" y="4505196"/>
            <a:ext cx="32004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b="1" i="0" u="none" strike="noStrike" cap="none">
                <a:solidFill>
                  <a:srgbClr val="427D52"/>
                </a:solidFill>
                <a:latin typeface="Arial"/>
                <a:ea typeface="Arial"/>
                <a:cs typeface="Arial"/>
                <a:sym typeface="Arial"/>
              </a:rPr>
              <a:t>STATISTICAL RESULTS</a:t>
            </a:r>
            <a:endParaRPr/>
          </a:p>
        </p:txBody>
      </p:sp>
      <p:sp>
        <p:nvSpPr>
          <p:cNvPr id="353" name="Google Shape;353;h2994f3393d0b2db_0_321"/>
          <p:cNvSpPr txBox="1"/>
          <p:nvPr/>
        </p:nvSpPr>
        <p:spPr>
          <a:xfrm>
            <a:off x="1143000" y="4852668"/>
            <a:ext cx="1417200" cy="315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50" b="1" i="0" u="none" strike="noStrike" cap="none">
                <a:solidFill>
                  <a:srgbClr val="184168"/>
                </a:solidFill>
                <a:latin typeface="Arial"/>
                <a:ea typeface="Arial"/>
                <a:cs typeface="Arial"/>
                <a:sym typeface="Arial"/>
              </a:rPr>
              <a:t>Slope (β̂₁)</a:t>
            </a:r>
            <a:endParaRPr/>
          </a:p>
        </p:txBody>
      </p:sp>
      <p:sp>
        <p:nvSpPr>
          <p:cNvPr id="354" name="Google Shape;354;h2994f3393d0b2db_0_321"/>
          <p:cNvSpPr txBox="1"/>
          <p:nvPr/>
        </p:nvSpPr>
        <p:spPr>
          <a:xfrm>
            <a:off x="2697480" y="4852668"/>
            <a:ext cx="1691700" cy="315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50" b="1" i="0" u="none" strike="noStrike" cap="none">
                <a:solidFill>
                  <a:srgbClr val="48525C"/>
                </a:solidFill>
                <a:latin typeface="Arial"/>
                <a:ea typeface="Arial"/>
                <a:cs typeface="Arial"/>
                <a:sym typeface="Arial"/>
              </a:rPr>
              <a:t>0.9479</a:t>
            </a:r>
            <a:endParaRPr/>
          </a:p>
        </p:txBody>
      </p:sp>
      <p:sp>
        <p:nvSpPr>
          <p:cNvPr id="355" name="Google Shape;355;h2994f3393d0b2db_0_321"/>
          <p:cNvSpPr txBox="1"/>
          <p:nvPr/>
        </p:nvSpPr>
        <p:spPr>
          <a:xfrm>
            <a:off x="1143000" y="5163564"/>
            <a:ext cx="1417200" cy="315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50" b="1" i="0" u="none" strike="noStrike" cap="none">
                <a:solidFill>
                  <a:srgbClr val="184168"/>
                </a:solidFill>
                <a:latin typeface="Arial"/>
                <a:ea typeface="Arial"/>
                <a:cs typeface="Arial"/>
                <a:sym typeface="Arial"/>
              </a:rPr>
              <a:t>p-value</a:t>
            </a:r>
            <a:endParaRPr/>
          </a:p>
        </p:txBody>
      </p:sp>
      <p:sp>
        <p:nvSpPr>
          <p:cNvPr id="356" name="Google Shape;356;h2994f3393d0b2db_0_321"/>
          <p:cNvSpPr txBox="1"/>
          <p:nvPr/>
        </p:nvSpPr>
        <p:spPr>
          <a:xfrm>
            <a:off x="2697480" y="5163564"/>
            <a:ext cx="1691700" cy="315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50" b="1" i="0" u="none" strike="noStrike" cap="none">
                <a:solidFill>
                  <a:srgbClr val="427D52"/>
                </a:solidFill>
                <a:latin typeface="Arial"/>
                <a:ea typeface="Arial"/>
                <a:cs typeface="Arial"/>
                <a:sym typeface="Arial"/>
              </a:rPr>
              <a:t>7.04 × 10⁻⁴⁹</a:t>
            </a:r>
            <a:endParaRPr/>
          </a:p>
        </p:txBody>
      </p:sp>
      <p:sp>
        <p:nvSpPr>
          <p:cNvPr id="357" name="Google Shape;357;h2994f3393d0b2db_0_321"/>
          <p:cNvSpPr txBox="1"/>
          <p:nvPr/>
        </p:nvSpPr>
        <p:spPr>
          <a:xfrm>
            <a:off x="1143000" y="5474459"/>
            <a:ext cx="1417200" cy="315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50" b="1" i="0" u="none" strike="noStrike" cap="none">
                <a:solidFill>
                  <a:srgbClr val="184168"/>
                </a:solidFill>
                <a:latin typeface="Arial"/>
                <a:ea typeface="Arial"/>
                <a:cs typeface="Arial"/>
                <a:sym typeface="Arial"/>
              </a:rPr>
              <a:t>95% CI</a:t>
            </a:r>
            <a:endParaRPr/>
          </a:p>
        </p:txBody>
      </p:sp>
      <p:sp>
        <p:nvSpPr>
          <p:cNvPr id="358" name="Google Shape;358;h2994f3393d0b2db_0_321"/>
          <p:cNvSpPr txBox="1"/>
          <p:nvPr/>
        </p:nvSpPr>
        <p:spPr>
          <a:xfrm>
            <a:off x="2697480" y="5474459"/>
            <a:ext cx="1691700" cy="315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50" b="1" i="0" u="none" strike="noStrike" cap="none">
                <a:solidFill>
                  <a:srgbClr val="48525C"/>
                </a:solidFill>
                <a:latin typeface="Arial"/>
                <a:ea typeface="Arial"/>
                <a:cs typeface="Arial"/>
                <a:sym typeface="Arial"/>
              </a:rPr>
              <a:t>[0.8656, 1.0303]</a:t>
            </a:r>
            <a:endParaRPr/>
          </a:p>
        </p:txBody>
      </p:sp>
      <p:sp>
        <p:nvSpPr>
          <p:cNvPr id="359" name="Google Shape;359;h2994f3393d0b2db_0_321"/>
          <p:cNvSpPr txBox="1"/>
          <p:nvPr/>
        </p:nvSpPr>
        <p:spPr>
          <a:xfrm>
            <a:off x="1143000" y="5785355"/>
            <a:ext cx="1417200" cy="315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50" b="1" i="0" u="none" strike="noStrike" cap="none">
                <a:solidFill>
                  <a:srgbClr val="184168"/>
                </a:solidFill>
                <a:latin typeface="Arial"/>
                <a:ea typeface="Arial"/>
                <a:cs typeface="Arial"/>
                <a:sym typeface="Arial"/>
              </a:rPr>
              <a:t>Pearson r</a:t>
            </a:r>
            <a:endParaRPr/>
          </a:p>
        </p:txBody>
      </p:sp>
      <p:sp>
        <p:nvSpPr>
          <p:cNvPr id="360" name="Google Shape;360;h2994f3393d0b2db_0_321"/>
          <p:cNvSpPr txBox="1"/>
          <p:nvPr/>
        </p:nvSpPr>
        <p:spPr>
          <a:xfrm>
            <a:off x="2697480" y="5785355"/>
            <a:ext cx="1691700" cy="315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50" b="1" i="0" u="none" strike="noStrike" cap="none">
                <a:solidFill>
                  <a:srgbClr val="427D52"/>
                </a:solidFill>
                <a:latin typeface="Arial"/>
                <a:ea typeface="Arial"/>
                <a:cs typeface="Arial"/>
                <a:sym typeface="Arial"/>
              </a:rPr>
              <a:t>0.8872</a:t>
            </a:r>
            <a:endParaRPr/>
          </a:p>
        </p:txBody>
      </p:sp>
      <p:sp>
        <p:nvSpPr>
          <p:cNvPr id="361" name="Google Shape;361;h2994f3393d0b2db_0_321"/>
          <p:cNvSpPr txBox="1"/>
          <p:nvPr/>
        </p:nvSpPr>
        <p:spPr>
          <a:xfrm>
            <a:off x="1143000" y="6096251"/>
            <a:ext cx="1417200" cy="315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50" b="1" i="0" u="none" strike="noStrike" cap="none">
                <a:solidFill>
                  <a:srgbClr val="184168"/>
                </a:solidFill>
                <a:latin typeface="Arial"/>
                <a:ea typeface="Arial"/>
                <a:cs typeface="Arial"/>
                <a:sym typeface="Arial"/>
              </a:rPr>
              <a:t>R²</a:t>
            </a:r>
            <a:endParaRPr/>
          </a:p>
        </p:txBody>
      </p:sp>
      <p:sp>
        <p:nvSpPr>
          <p:cNvPr id="362" name="Google Shape;362;h2994f3393d0b2db_0_321"/>
          <p:cNvSpPr txBox="1"/>
          <p:nvPr/>
        </p:nvSpPr>
        <p:spPr>
          <a:xfrm>
            <a:off x="2697480" y="6096251"/>
            <a:ext cx="1691700" cy="315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50" b="1" i="0" u="none" strike="noStrike" cap="none">
                <a:solidFill>
                  <a:srgbClr val="427D52"/>
                </a:solidFill>
                <a:latin typeface="Arial"/>
                <a:ea typeface="Arial"/>
                <a:cs typeface="Arial"/>
                <a:sym typeface="Arial"/>
              </a:rPr>
              <a:t>0.7871</a:t>
            </a:r>
            <a:endParaRPr/>
          </a:p>
        </p:txBody>
      </p:sp>
      <p:sp>
        <p:nvSpPr>
          <p:cNvPr id="363" name="Google Shape;363;h2994f3393d0b2db_0_321"/>
          <p:cNvSpPr txBox="1"/>
          <p:nvPr/>
        </p:nvSpPr>
        <p:spPr>
          <a:xfrm>
            <a:off x="5527675" y="4180032"/>
            <a:ext cx="55650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u="none" strike="noStrike" cap="none">
                <a:solidFill>
                  <a:srgbClr val="427D52"/>
                </a:solidFill>
                <a:latin typeface="Arial"/>
                <a:ea typeface="Arial"/>
                <a:cs typeface="Arial"/>
                <a:sym typeface="Arial"/>
              </a:rPr>
              <a:t>STRENGTH OF THE RELATIONSHIP</a:t>
            </a:r>
            <a:endParaRPr sz="1800"/>
          </a:p>
        </p:txBody>
      </p:sp>
      <p:sp>
        <p:nvSpPr>
          <p:cNvPr id="364" name="Google Shape;364;h2994f3393d0b2db_0_321"/>
          <p:cNvSpPr txBox="1"/>
          <p:nvPr/>
        </p:nvSpPr>
        <p:spPr>
          <a:xfrm>
            <a:off x="5527675" y="4573225"/>
            <a:ext cx="1691700" cy="430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200" b="1" i="0" u="none" strike="noStrike" cap="none">
                <a:solidFill>
                  <a:srgbClr val="184168"/>
                </a:solidFill>
                <a:latin typeface="Play"/>
                <a:ea typeface="Play"/>
                <a:cs typeface="Play"/>
                <a:sym typeface="Play"/>
              </a:rPr>
              <a:t>r = 0.8872</a:t>
            </a:r>
            <a:endParaRPr/>
          </a:p>
        </p:txBody>
      </p:sp>
      <p:sp>
        <p:nvSpPr>
          <p:cNvPr id="365" name="Google Shape;365;h2994f3393d0b2db_0_321"/>
          <p:cNvSpPr txBox="1"/>
          <p:nvPr/>
        </p:nvSpPr>
        <p:spPr>
          <a:xfrm>
            <a:off x="7119070" y="4618944"/>
            <a:ext cx="3807600" cy="330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50" b="1" i="0" u="none" strike="noStrike" cap="none">
                <a:solidFill>
                  <a:srgbClr val="48525C"/>
                </a:solidFill>
                <a:latin typeface="Arial"/>
                <a:ea typeface="Arial"/>
                <a:cs typeface="Arial"/>
                <a:sym typeface="Arial"/>
              </a:rPr>
              <a:t>Strong positive linear association</a:t>
            </a:r>
            <a:endParaRPr/>
          </a:p>
        </p:txBody>
      </p:sp>
      <p:sp>
        <p:nvSpPr>
          <p:cNvPr id="366" name="Google Shape;366;h2994f3393d0b2db_0_321"/>
          <p:cNvSpPr txBox="1"/>
          <p:nvPr/>
        </p:nvSpPr>
        <p:spPr>
          <a:xfrm>
            <a:off x="5527675" y="5149299"/>
            <a:ext cx="1691700" cy="430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200" b="1" i="0" u="none" strike="noStrike" cap="none">
                <a:solidFill>
                  <a:srgbClr val="427D52"/>
                </a:solidFill>
                <a:latin typeface="Play"/>
                <a:ea typeface="Play"/>
                <a:cs typeface="Play"/>
                <a:sym typeface="Play"/>
              </a:rPr>
              <a:t>R² = 0.7871</a:t>
            </a:r>
            <a:endParaRPr/>
          </a:p>
        </p:txBody>
      </p:sp>
      <p:sp>
        <p:nvSpPr>
          <p:cNvPr id="367" name="Google Shape;367;h2994f3393d0b2db_0_321"/>
          <p:cNvSpPr txBox="1"/>
          <p:nvPr/>
        </p:nvSpPr>
        <p:spPr>
          <a:xfrm>
            <a:off x="7119070" y="5140151"/>
            <a:ext cx="3856500" cy="554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i="0" u="none" strike="noStrike" cap="none">
                <a:solidFill>
                  <a:srgbClr val="48525C"/>
                </a:solidFill>
                <a:latin typeface="Arial"/>
                <a:ea typeface="Arial"/>
                <a:cs typeface="Arial"/>
                <a:sym typeface="Arial"/>
              </a:rPr>
              <a:t>78.71% of the variation in log GDP per capita is explained by log energy use.</a:t>
            </a:r>
            <a:endParaRPr/>
          </a:p>
        </p:txBody>
      </p:sp>
      <p:sp>
        <p:nvSpPr>
          <p:cNvPr id="368" name="Google Shape;368;h2994f3393d0b2db_0_321"/>
          <p:cNvSpPr/>
          <p:nvPr/>
        </p:nvSpPr>
        <p:spPr>
          <a:xfrm>
            <a:off x="868675" y="3521729"/>
            <a:ext cx="4254000" cy="769200"/>
          </a:xfrm>
          <a:prstGeom prst="roundRect">
            <a:avLst>
              <a:gd name="adj" fmla="val 16667"/>
            </a:avLst>
          </a:prstGeom>
          <a:solidFill>
            <a:srgbClr val="FFF2CC"/>
          </a:solidFill>
          <a:ln w="9525" cap="flat" cmpd="sng">
            <a:solidFill>
              <a:srgbClr val="FFF2CC"/>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b="1">
                <a:solidFill>
                  <a:srgbClr val="184168"/>
                </a:solidFill>
              </a:rPr>
              <a:t>ESTIMATED REGRESSION MODEL</a:t>
            </a:r>
            <a:endParaRPr b="1">
              <a:solidFill>
                <a:srgbClr val="184168"/>
              </a:solidFill>
            </a:endParaRPr>
          </a:p>
          <a:p>
            <a:pPr marL="0" marR="0" lvl="0" indent="0" algn="l" rtl="0">
              <a:lnSpc>
                <a:spcPct val="100000"/>
              </a:lnSpc>
              <a:spcBef>
                <a:spcPts val="0"/>
              </a:spcBef>
              <a:spcAft>
                <a:spcPts val="0"/>
              </a:spcAft>
              <a:buClr>
                <a:srgbClr val="000000"/>
              </a:buClr>
              <a:buFont typeface="Arial"/>
              <a:buNone/>
            </a:pPr>
            <a:endParaRPr sz="400" b="1">
              <a:solidFill>
                <a:srgbClr val="184168"/>
              </a:solidFill>
            </a:endParaRPr>
          </a:p>
          <a:p>
            <a:pPr marL="0" marR="0" lvl="0" indent="0" algn="l" rtl="0">
              <a:lnSpc>
                <a:spcPct val="100000"/>
              </a:lnSpc>
              <a:spcBef>
                <a:spcPts val="0"/>
              </a:spcBef>
              <a:spcAft>
                <a:spcPts val="0"/>
              </a:spcAft>
              <a:buNone/>
            </a:pPr>
            <a:r>
              <a:rPr lang="en-US" sz="1550" b="1">
                <a:solidFill>
                  <a:srgbClr val="184168"/>
                </a:solidFill>
              </a:rPr>
              <a:t>log(GDP) = 2.8695 + 0.9479 × log(Energy)</a:t>
            </a:r>
            <a:endParaRPr sz="1800">
              <a:latin typeface="Calibri"/>
              <a:ea typeface="Calibri"/>
              <a:cs typeface="Calibri"/>
              <a:sym typeface="Calibri"/>
            </a:endParaRPr>
          </a:p>
        </p:txBody>
      </p:sp>
      <p:cxnSp>
        <p:nvCxnSpPr>
          <p:cNvPr id="369" name="Google Shape;369;h2994f3393d0b2db_0_321"/>
          <p:cNvCxnSpPr>
            <a:endCxn id="368" idx="1"/>
          </p:cNvCxnSpPr>
          <p:nvPr/>
        </p:nvCxnSpPr>
        <p:spPr>
          <a:xfrm flipH="1">
            <a:off x="868675" y="3844229"/>
            <a:ext cx="524400" cy="62100"/>
          </a:xfrm>
          <a:prstGeom prst="straightConnector1">
            <a:avLst/>
          </a:prstGeom>
          <a:noFill/>
          <a:ln w="9525" cap="flat" cmpd="sng">
            <a:solidFill>
              <a:schemeClr val="dk2"/>
            </a:solidFill>
            <a:prstDash val="solid"/>
            <a:round/>
            <a:headEnd type="none" w="med" len="med"/>
            <a:tailEnd type="none" w="med" len="med"/>
          </a:ln>
        </p:spPr>
      </p:cxnSp>
      <p:cxnSp>
        <p:nvCxnSpPr>
          <p:cNvPr id="370" name="Google Shape;370;h2994f3393d0b2db_0_321"/>
          <p:cNvCxnSpPr/>
          <p:nvPr/>
        </p:nvCxnSpPr>
        <p:spPr>
          <a:xfrm>
            <a:off x="1356200" y="3835238"/>
            <a:ext cx="533100" cy="6750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h2994f3393d0b2db_0_456"/>
          <p:cNvSpPr txBox="1">
            <a:spLocks noGrp="1"/>
          </p:cNvSpPr>
          <p:nvPr>
            <p:ph type="title"/>
          </p:nvPr>
        </p:nvSpPr>
        <p:spPr>
          <a:xfrm>
            <a:off x="457200" y="274638"/>
            <a:ext cx="8229600" cy="11430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endParaRPr/>
          </a:p>
        </p:txBody>
      </p:sp>
      <p:sp>
        <p:nvSpPr>
          <p:cNvPr id="376" name="Google Shape;376;h2994f3393d0b2db_0_456"/>
          <p:cNvSpPr txBox="1">
            <a:spLocks noGrp="1"/>
          </p:cNvSpPr>
          <p:nvPr>
            <p:ph type="body" idx="1"/>
          </p:nvPr>
        </p:nvSpPr>
        <p:spPr>
          <a:xfrm>
            <a:off x="457200" y="1600200"/>
            <a:ext cx="8229600" cy="4526100"/>
          </a:xfrm>
          <a:prstGeom prst="rect">
            <a:avLst/>
          </a:prstGeom>
        </p:spPr>
        <p:txBody>
          <a:bodyPr spcFirstLastPara="1" wrap="square" lIns="91425" tIns="45700" rIns="91425" bIns="45700" anchor="t" anchorCtr="0">
            <a:normAutofit/>
          </a:bodyPr>
          <a:lstStyle/>
          <a:p>
            <a:pPr marL="0" lvl="0" indent="0" algn="l" rtl="0">
              <a:spcBef>
                <a:spcPts val="360"/>
              </a:spcBef>
              <a:spcAft>
                <a:spcPts val="0"/>
              </a:spcAft>
              <a:buNone/>
            </a:pPr>
            <a:endParaRPr/>
          </a:p>
        </p:txBody>
      </p:sp>
      <p:sp>
        <p:nvSpPr>
          <p:cNvPr id="377" name="Google Shape;377;h2994f3393d0b2db_0_456"/>
          <p:cNvSpPr/>
          <p:nvPr/>
        </p:nvSpPr>
        <p:spPr>
          <a:xfrm>
            <a:off x="0" y="0"/>
            <a:ext cx="12191700" cy="6858000"/>
          </a:xfrm>
          <a:prstGeom prst="rect">
            <a:avLst/>
          </a:prstGeom>
          <a:solidFill>
            <a:srgbClr val="FBFAF7"/>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378" name="Google Shape;378;h2994f3393d0b2db_0_456"/>
          <p:cNvSpPr txBox="1"/>
          <p:nvPr/>
        </p:nvSpPr>
        <p:spPr>
          <a:xfrm>
            <a:off x="868680" y="475488"/>
            <a:ext cx="10332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84168"/>
                </a:solidFill>
                <a:latin typeface="Play"/>
                <a:ea typeface="Play"/>
                <a:cs typeface="Play"/>
                <a:sym typeface="Play"/>
              </a:rPr>
              <a:t>Final Discussion</a:t>
            </a:r>
            <a:endParaRPr/>
          </a:p>
        </p:txBody>
      </p:sp>
      <p:sp>
        <p:nvSpPr>
          <p:cNvPr id="379" name="Google Shape;379;h2994f3393d0b2db_0_456"/>
          <p:cNvSpPr txBox="1"/>
          <p:nvPr/>
        </p:nvSpPr>
        <p:spPr>
          <a:xfrm>
            <a:off x="895675" y="961100"/>
            <a:ext cx="104430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rgbClr val="48525C"/>
                </a:solidFill>
                <a:latin typeface="Arial"/>
                <a:ea typeface="Arial"/>
                <a:cs typeface="Arial"/>
                <a:sym typeface="Arial"/>
              </a:rPr>
              <a:t>The two analyses tell a more </a:t>
            </a:r>
            <a:r>
              <a:rPr lang="en-US" sz="1800">
                <a:solidFill>
                  <a:srgbClr val="48525C"/>
                </a:solidFill>
              </a:rPr>
              <a:t>broader </a:t>
            </a:r>
            <a:r>
              <a:rPr lang="en-US" sz="1800" b="0" i="0" u="none" strike="noStrike" cap="none">
                <a:solidFill>
                  <a:srgbClr val="48525C"/>
                </a:solidFill>
                <a:latin typeface="Arial"/>
                <a:ea typeface="Arial"/>
                <a:cs typeface="Arial"/>
                <a:sym typeface="Arial"/>
              </a:rPr>
              <a:t>story than simply “more energy means more economic development.</a:t>
            </a:r>
            <a:endParaRPr/>
          </a:p>
        </p:txBody>
      </p:sp>
      <p:sp>
        <p:nvSpPr>
          <p:cNvPr id="380" name="Google Shape;380;h2994f3393d0b2db_0_456"/>
          <p:cNvSpPr/>
          <p:nvPr/>
        </p:nvSpPr>
        <p:spPr>
          <a:xfrm>
            <a:off x="868680" y="1664208"/>
            <a:ext cx="640200" cy="41100"/>
          </a:xfrm>
          <a:prstGeom prst="rect">
            <a:avLst/>
          </a:prstGeom>
          <a:solidFill>
            <a:srgbClr val="427D52"/>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381" name="Google Shape;381;h2994f3393d0b2db_0_456"/>
          <p:cNvSpPr txBox="1"/>
          <p:nvPr/>
        </p:nvSpPr>
        <p:spPr>
          <a:xfrm>
            <a:off x="858625" y="1832737"/>
            <a:ext cx="1005900" cy="415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00" b="1" i="0" u="none" strike="noStrike" cap="none">
                <a:solidFill>
                  <a:srgbClr val="427D52"/>
                </a:solidFill>
                <a:latin typeface="Arial"/>
                <a:ea typeface="Arial"/>
                <a:cs typeface="Arial"/>
                <a:sym typeface="Arial"/>
              </a:rPr>
              <a:t>RQ1</a:t>
            </a:r>
            <a:endParaRPr sz="2100"/>
          </a:p>
        </p:txBody>
      </p:sp>
      <p:sp>
        <p:nvSpPr>
          <p:cNvPr id="382" name="Google Shape;382;h2994f3393d0b2db_0_456"/>
          <p:cNvSpPr txBox="1"/>
          <p:nvPr/>
        </p:nvSpPr>
        <p:spPr>
          <a:xfrm>
            <a:off x="858625" y="2207650"/>
            <a:ext cx="4690500" cy="708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0" u="none" strike="noStrike" cap="none">
                <a:solidFill>
                  <a:srgbClr val="184168"/>
                </a:solidFill>
                <a:latin typeface="Arial"/>
                <a:ea typeface="Arial"/>
                <a:cs typeface="Arial"/>
                <a:sym typeface="Arial"/>
              </a:rPr>
              <a:t>Energy-use trajectories differ across development stages.</a:t>
            </a:r>
            <a:endParaRPr/>
          </a:p>
        </p:txBody>
      </p:sp>
      <p:sp>
        <p:nvSpPr>
          <p:cNvPr id="383" name="Google Shape;383;h2994f3393d0b2db_0_456"/>
          <p:cNvSpPr txBox="1"/>
          <p:nvPr/>
        </p:nvSpPr>
        <p:spPr>
          <a:xfrm>
            <a:off x="858625" y="2847721"/>
            <a:ext cx="4526400" cy="1523700"/>
          </a:xfrm>
          <a:prstGeom prst="rect">
            <a:avLst/>
          </a:prstGeom>
          <a:noFill/>
          <a:ln>
            <a:noFill/>
          </a:ln>
        </p:spPr>
        <p:txBody>
          <a:bodyPr spcFirstLastPara="1" wrap="square" lIns="91425" tIns="45700" rIns="91425" bIns="45700" anchor="t" anchorCtr="0">
            <a:spAutoFit/>
          </a:bodyPr>
          <a:lstStyle/>
          <a:p>
            <a:pPr marL="457200" marR="0" lvl="0" indent="-327025" algn="l" rtl="0">
              <a:spcBef>
                <a:spcPts val="0"/>
              </a:spcBef>
              <a:spcAft>
                <a:spcPts val="0"/>
              </a:spcAft>
              <a:buClr>
                <a:srgbClr val="48525C"/>
              </a:buClr>
              <a:buSzPts val="1550"/>
              <a:buChar char="●"/>
            </a:pPr>
            <a:r>
              <a:rPr lang="en-US" sz="1550" b="0" i="0" u="none" strike="noStrike" cap="none">
                <a:solidFill>
                  <a:srgbClr val="48525C"/>
                </a:solidFill>
                <a:latin typeface="Arial"/>
                <a:ea typeface="Arial"/>
                <a:cs typeface="Arial"/>
                <a:sym typeface="Arial"/>
              </a:rPr>
              <a:t>From 2010–2021, lower-development countries increased energy use per capita on average, while higher-development countries decreased. </a:t>
            </a:r>
            <a:endParaRPr sz="1550" b="0" i="0" u="none" strike="noStrike" cap="none">
              <a:solidFill>
                <a:srgbClr val="48525C"/>
              </a:solidFill>
              <a:latin typeface="Arial"/>
              <a:ea typeface="Arial"/>
              <a:cs typeface="Arial"/>
              <a:sym typeface="Arial"/>
            </a:endParaRPr>
          </a:p>
          <a:p>
            <a:pPr marL="457200" marR="0" lvl="0" indent="-327025" algn="l" rtl="0">
              <a:spcBef>
                <a:spcPts val="0"/>
              </a:spcBef>
              <a:spcAft>
                <a:spcPts val="0"/>
              </a:spcAft>
              <a:buClr>
                <a:srgbClr val="48525C"/>
              </a:buClr>
              <a:buSzPts val="1550"/>
              <a:buChar char="●"/>
            </a:pPr>
            <a:r>
              <a:rPr lang="en-US" sz="1550">
                <a:solidFill>
                  <a:srgbClr val="48525C"/>
                </a:solidFill>
              </a:rPr>
              <a:t>T</a:t>
            </a:r>
            <a:r>
              <a:rPr lang="en-US" sz="1550" b="0" i="0" u="none" strike="noStrike" cap="none">
                <a:solidFill>
                  <a:srgbClr val="48525C"/>
                </a:solidFill>
                <a:latin typeface="Arial"/>
                <a:ea typeface="Arial"/>
                <a:cs typeface="Arial"/>
                <a:sym typeface="Arial"/>
              </a:rPr>
              <a:t>he pattern was not solely a pandemic effect.</a:t>
            </a:r>
            <a:endParaRPr/>
          </a:p>
        </p:txBody>
      </p:sp>
      <p:sp>
        <p:nvSpPr>
          <p:cNvPr id="384" name="Google Shape;384;h2994f3393d0b2db_0_456"/>
          <p:cNvSpPr/>
          <p:nvPr/>
        </p:nvSpPr>
        <p:spPr>
          <a:xfrm>
            <a:off x="5742432" y="2029968"/>
            <a:ext cx="16500" cy="2240400"/>
          </a:xfrm>
          <a:prstGeom prst="rect">
            <a:avLst/>
          </a:prstGeom>
          <a:solidFill>
            <a:srgbClr val="DAE1DD"/>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385" name="Google Shape;385;h2994f3393d0b2db_0_456"/>
          <p:cNvSpPr txBox="1"/>
          <p:nvPr/>
        </p:nvSpPr>
        <p:spPr>
          <a:xfrm>
            <a:off x="6070705" y="1832737"/>
            <a:ext cx="1005900" cy="415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100" b="1" i="0" u="none" strike="noStrike" cap="none">
                <a:solidFill>
                  <a:srgbClr val="427D52"/>
                </a:solidFill>
                <a:latin typeface="Arial"/>
                <a:ea typeface="Arial"/>
                <a:cs typeface="Arial"/>
                <a:sym typeface="Arial"/>
              </a:rPr>
              <a:t>RQ2</a:t>
            </a:r>
            <a:endParaRPr sz="2100"/>
          </a:p>
        </p:txBody>
      </p:sp>
      <p:sp>
        <p:nvSpPr>
          <p:cNvPr id="386" name="Google Shape;386;h2994f3393d0b2db_0_456"/>
          <p:cNvSpPr txBox="1"/>
          <p:nvPr/>
        </p:nvSpPr>
        <p:spPr>
          <a:xfrm>
            <a:off x="6070700" y="2207650"/>
            <a:ext cx="4810800" cy="1015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0" u="none" strike="noStrike" cap="none">
                <a:solidFill>
                  <a:srgbClr val="184168"/>
                </a:solidFill>
                <a:latin typeface="Arial"/>
                <a:ea typeface="Arial"/>
                <a:cs typeface="Arial"/>
                <a:sym typeface="Arial"/>
              </a:rPr>
              <a:t>Across countries, higher energy use is closely associated with higher GDP per capita.</a:t>
            </a:r>
            <a:endParaRPr/>
          </a:p>
        </p:txBody>
      </p:sp>
      <p:sp>
        <p:nvSpPr>
          <p:cNvPr id="387" name="Google Shape;387;h2994f3393d0b2db_0_456"/>
          <p:cNvSpPr txBox="1"/>
          <p:nvPr/>
        </p:nvSpPr>
        <p:spPr>
          <a:xfrm>
            <a:off x="6070705" y="2896021"/>
            <a:ext cx="4572000" cy="1523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550">
              <a:solidFill>
                <a:srgbClr val="48525C"/>
              </a:solidFill>
            </a:endParaRPr>
          </a:p>
          <a:p>
            <a:pPr marL="457200" marR="0" lvl="0" indent="-327025" algn="l" rtl="0">
              <a:spcBef>
                <a:spcPts val="0"/>
              </a:spcBef>
              <a:spcAft>
                <a:spcPts val="0"/>
              </a:spcAft>
              <a:buClr>
                <a:srgbClr val="48525C"/>
              </a:buClr>
              <a:buSzPts val="1550"/>
              <a:buFont typeface="Arial"/>
              <a:buChar char="●"/>
            </a:pPr>
            <a:r>
              <a:rPr lang="en-US" sz="1550" b="0" i="0" u="none" strike="noStrike" cap="none">
                <a:solidFill>
                  <a:srgbClr val="48525C"/>
                </a:solidFill>
                <a:latin typeface="Arial"/>
                <a:ea typeface="Arial"/>
                <a:cs typeface="Arial"/>
                <a:sym typeface="Arial"/>
              </a:rPr>
              <a:t>A 1% increase in energy use was associated with about a 0.95% increase in GDP per capita.</a:t>
            </a:r>
            <a:endParaRPr sz="1550">
              <a:solidFill>
                <a:srgbClr val="48525C"/>
              </a:solidFill>
            </a:endParaRPr>
          </a:p>
          <a:p>
            <a:pPr marL="457200" marR="0" lvl="0" indent="-327025" algn="l" rtl="0">
              <a:spcBef>
                <a:spcPts val="0"/>
              </a:spcBef>
              <a:spcAft>
                <a:spcPts val="0"/>
              </a:spcAft>
              <a:buClr>
                <a:srgbClr val="48525C"/>
              </a:buClr>
              <a:buSzPts val="1550"/>
              <a:buFont typeface="Arial"/>
              <a:buChar char="●"/>
            </a:pPr>
            <a:r>
              <a:rPr lang="en-US" sz="1550" b="0" i="0" u="none" strike="noStrike" cap="none">
                <a:solidFill>
                  <a:srgbClr val="48525C"/>
                </a:solidFill>
                <a:latin typeface="Arial"/>
                <a:ea typeface="Arial"/>
                <a:cs typeface="Arial"/>
                <a:sym typeface="Arial"/>
              </a:rPr>
              <a:t>The model explained 78.71% of variation in log GDP.</a:t>
            </a:r>
            <a:endParaRPr/>
          </a:p>
        </p:txBody>
      </p:sp>
      <p:sp>
        <p:nvSpPr>
          <p:cNvPr id="388" name="Google Shape;388;h2994f3393d0b2db_0_456"/>
          <p:cNvSpPr/>
          <p:nvPr/>
        </p:nvSpPr>
        <p:spPr>
          <a:xfrm>
            <a:off x="868680" y="4498848"/>
            <a:ext cx="10012800" cy="1326000"/>
          </a:xfrm>
          <a:prstGeom prst="roundRect">
            <a:avLst>
              <a:gd name="adj" fmla="val 16667"/>
            </a:avLst>
          </a:prstGeom>
          <a:solidFill>
            <a:srgbClr val="EFF6F0"/>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389" name="Google Shape;389;h2994f3393d0b2db_0_456"/>
          <p:cNvSpPr txBox="1"/>
          <p:nvPr/>
        </p:nvSpPr>
        <p:spPr>
          <a:xfrm>
            <a:off x="1087175" y="4624550"/>
            <a:ext cx="9794400" cy="1139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700" b="1" i="0" u="none" strike="noStrike" cap="none">
                <a:solidFill>
                  <a:srgbClr val="184168"/>
                </a:solidFill>
                <a:latin typeface="Arial"/>
                <a:ea typeface="Arial"/>
                <a:cs typeface="Arial"/>
                <a:sym typeface="Arial"/>
              </a:rPr>
              <a:t>Taken together, the results suggest that energy and economic development are strongly connected, but the relationship is dynamic: countries with higher income tend to use more energy, while changes in energy use over time may follow different paths as economies develop.</a:t>
            </a:r>
            <a:endParaRPr/>
          </a:p>
        </p:txBody>
      </p:sp>
      <p:sp>
        <p:nvSpPr>
          <p:cNvPr id="390" name="Google Shape;390;h2994f3393d0b2db_0_456"/>
          <p:cNvSpPr txBox="1"/>
          <p:nvPr/>
        </p:nvSpPr>
        <p:spPr>
          <a:xfrm>
            <a:off x="896112" y="6016752"/>
            <a:ext cx="9966900" cy="538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50" b="1" i="0" u="none" strike="noStrike" cap="none">
                <a:solidFill>
                  <a:srgbClr val="707A82"/>
                </a:solidFill>
                <a:latin typeface="Arial"/>
                <a:ea typeface="Arial"/>
                <a:cs typeface="Arial"/>
                <a:sym typeface="Arial"/>
              </a:rPr>
              <a:t>These findings describe cross-country patterns and associations; they should not be interpreted as evidence that changes in energy use cause changes in GDP.</a:t>
            </a:r>
            <a:endParaRPr/>
          </a:p>
        </p:txBody>
      </p:sp>
      <p:sp>
        <p:nvSpPr>
          <p:cNvPr id="391" name="Google Shape;391;h2994f3393d0b2db_0_456"/>
          <p:cNvSpPr txBox="1"/>
          <p:nvPr/>
        </p:nvSpPr>
        <p:spPr>
          <a:xfrm>
            <a:off x="11018528" y="6473950"/>
            <a:ext cx="482700" cy="2769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200" b="1">
                <a:solidFill>
                  <a:srgbClr val="184168"/>
                </a:solidFill>
              </a:rPr>
              <a:t>12</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h2994f3393d0b2db_0_461"/>
          <p:cNvSpPr txBox="1">
            <a:spLocks noGrp="1"/>
          </p:cNvSpPr>
          <p:nvPr>
            <p:ph type="title"/>
          </p:nvPr>
        </p:nvSpPr>
        <p:spPr>
          <a:xfrm>
            <a:off x="457200" y="274638"/>
            <a:ext cx="8229600" cy="11430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endParaRPr/>
          </a:p>
        </p:txBody>
      </p:sp>
      <p:sp>
        <p:nvSpPr>
          <p:cNvPr id="397" name="Google Shape;397;h2994f3393d0b2db_0_461"/>
          <p:cNvSpPr txBox="1">
            <a:spLocks noGrp="1"/>
          </p:cNvSpPr>
          <p:nvPr>
            <p:ph type="body" idx="1"/>
          </p:nvPr>
        </p:nvSpPr>
        <p:spPr>
          <a:xfrm>
            <a:off x="457200" y="1600200"/>
            <a:ext cx="8229600" cy="4526100"/>
          </a:xfrm>
          <a:prstGeom prst="rect">
            <a:avLst/>
          </a:prstGeom>
        </p:spPr>
        <p:txBody>
          <a:bodyPr spcFirstLastPara="1" wrap="square" lIns="91425" tIns="45700" rIns="91425" bIns="45700" anchor="t" anchorCtr="0">
            <a:normAutofit/>
          </a:bodyPr>
          <a:lstStyle/>
          <a:p>
            <a:pPr marL="0" lvl="0" indent="0" algn="l" rtl="0">
              <a:spcBef>
                <a:spcPts val="360"/>
              </a:spcBef>
              <a:spcAft>
                <a:spcPts val="0"/>
              </a:spcAft>
              <a:buNone/>
            </a:pPr>
            <a:endParaRPr/>
          </a:p>
        </p:txBody>
      </p:sp>
      <p:sp>
        <p:nvSpPr>
          <p:cNvPr id="398" name="Google Shape;398;h2994f3393d0b2db_0_461"/>
          <p:cNvSpPr/>
          <p:nvPr/>
        </p:nvSpPr>
        <p:spPr>
          <a:xfrm>
            <a:off x="0" y="0"/>
            <a:ext cx="12191700" cy="6858000"/>
          </a:xfrm>
          <a:prstGeom prst="rect">
            <a:avLst/>
          </a:prstGeom>
          <a:solidFill>
            <a:srgbClr val="FBFAF7"/>
          </a:solidFill>
          <a:ln>
            <a:noFill/>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399" name="Google Shape;399;h2994f3393d0b2db_0_461"/>
          <p:cNvSpPr txBox="1"/>
          <p:nvPr/>
        </p:nvSpPr>
        <p:spPr>
          <a:xfrm>
            <a:off x="886455" y="2560848"/>
            <a:ext cx="10241400" cy="1062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6300" b="1" i="0" u="none" strike="noStrike" cap="none">
                <a:solidFill>
                  <a:srgbClr val="184168"/>
                </a:solidFill>
                <a:latin typeface="Play"/>
                <a:ea typeface="Play"/>
                <a:cs typeface="Play"/>
                <a:sym typeface="Play"/>
              </a:rPr>
              <a:t>Thank You for Listening</a:t>
            </a:r>
            <a:endParaRPr sz="4300"/>
          </a:p>
        </p:txBody>
      </p:sp>
      <p:sp>
        <p:nvSpPr>
          <p:cNvPr id="400" name="Google Shape;400;h2994f3393d0b2db_0_461"/>
          <p:cNvSpPr txBox="1"/>
          <p:nvPr/>
        </p:nvSpPr>
        <p:spPr>
          <a:xfrm>
            <a:off x="977955" y="3727766"/>
            <a:ext cx="10058400" cy="5694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100" b="1" i="0" u="none" strike="noStrike" cap="none">
                <a:solidFill>
                  <a:srgbClr val="427D52"/>
                </a:solidFill>
                <a:latin typeface="Play"/>
                <a:ea typeface="Play"/>
                <a:cs typeface="Play"/>
                <a:sym typeface="Play"/>
              </a:rPr>
              <a:t>Questions &amp; Discussion</a:t>
            </a:r>
            <a:endParaRPr sz="2000"/>
          </a:p>
        </p:txBody>
      </p:sp>
      <p:sp>
        <p:nvSpPr>
          <p:cNvPr id="401" name="Google Shape;401;h2994f3393d0b2db_0_461"/>
          <p:cNvSpPr txBox="1"/>
          <p:nvPr/>
        </p:nvSpPr>
        <p:spPr>
          <a:xfrm>
            <a:off x="11018529" y="6473950"/>
            <a:ext cx="553500" cy="2769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200" b="1">
                <a:solidFill>
                  <a:srgbClr val="184168"/>
                </a:solidFill>
              </a:rPr>
              <a:t>13</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2797</Words>
  <Application>Microsoft Macintosh PowerPoint</Application>
  <PresentationFormat>Widescreen</PresentationFormat>
  <Paragraphs>242</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Abijeet Dhillon</cp:lastModifiedBy>
  <cp:revision>1</cp:revision>
  <dcterms:created xsi:type="dcterms:W3CDTF">2013-01-27T09:14:16Z</dcterms:created>
  <dcterms:modified xsi:type="dcterms:W3CDTF">2026-10-15T20:15:45Z</dcterms:modified>
</cp:coreProperties>
</file>